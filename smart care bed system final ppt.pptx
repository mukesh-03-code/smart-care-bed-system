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05" r:id="rId2"/>
    <p:sldId id="257" r:id="rId3"/>
    <p:sldId id="337" r:id="rId4"/>
    <p:sldId id="306" r:id="rId5"/>
    <p:sldId id="333" r:id="rId6"/>
    <p:sldId id="343" r:id="rId7"/>
    <p:sldId id="274" r:id="rId8"/>
    <p:sldId id="273" r:id="rId9"/>
    <p:sldId id="262" r:id="rId10"/>
    <p:sldId id="336" r:id="rId11"/>
    <p:sldId id="334" r:id="rId12"/>
    <p:sldId id="265" r:id="rId13"/>
    <p:sldId id="335" r:id="rId14"/>
    <p:sldId id="344" r:id="rId15"/>
    <p:sldId id="345" r:id="rId16"/>
    <p:sldId id="331" r:id="rId17"/>
    <p:sldId id="340" r:id="rId18"/>
    <p:sldId id="341" r:id="rId19"/>
    <p:sldId id="342" r:id="rId20"/>
    <p:sldId id="338" r:id="rId21"/>
    <p:sldId id="346" r:id="rId22"/>
    <p:sldId id="33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mu amlu" initials="aa" lastIdx="1" clrIdx="0">
    <p:extLst>
      <p:ext uri="{19B8F6BF-5375-455C-9EA6-DF929625EA0E}">
        <p15:presenceInfo xmlns:p15="http://schemas.microsoft.com/office/powerpoint/2012/main" userId="a5c48f98814fa3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F13C15-7B0A-48D9-9D47-07112C2A0B8E}" v="58" dt="2025-09-25T05:22:36.4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5923" autoAdjust="0"/>
    <p:restoredTop sz="94660"/>
  </p:normalViewPr>
  <p:slideViewPr>
    <p:cSldViewPr>
      <p:cViewPr varScale="1">
        <p:scale>
          <a:sx n="82" d="100"/>
          <a:sy n="82" d="100"/>
        </p:scale>
        <p:origin x="893" y="72"/>
      </p:cViewPr>
      <p:guideLst>
        <p:guide orient="horz" pos="2160"/>
        <p:guide pos="2880"/>
      </p:guideLst>
    </p:cSldViewPr>
  </p:slideViewPr>
  <p:notesTextViewPr>
    <p:cViewPr>
      <p:scale>
        <a:sx n="200" d="100"/>
        <a:sy n="2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F852E8-56E7-48C0-8546-A1AD2A5CC89A}" type="datetimeFigureOut">
              <a:rPr lang="en-IN" smtClean="0"/>
              <a:t>03-11-2025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BEB82D-B322-47DE-A6B7-F380A2582FA4}" type="slidenum">
              <a:rPr lang="en-IN" smtClean="0"/>
              <a:t>‹#›</a:t>
            </a:fld>
            <a:endParaRPr lang="en-IN"/>
          </a:p>
        </p:txBody>
      </p:sp>
    </p:spTree>
    <p:extLst>
      <p:ext uri="{BB962C8B-B14F-4D97-AF65-F5344CB8AC3E}">
        <p14:creationId xmlns:p14="http://schemas.microsoft.com/office/powerpoint/2010/main" val="4157465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A274B0-2B51-4B82-B303-09402C5CCA10}"/>
              </a:ext>
            </a:extLst>
          </p:cNvPr>
          <p:cNvSpPr txBox="1"/>
          <p:nvPr/>
        </p:nvSpPr>
        <p:spPr>
          <a:xfrm>
            <a:off x="533400" y="381000"/>
            <a:ext cx="7848600" cy="3249608"/>
          </a:xfrm>
          <a:prstGeom prst="rect">
            <a:avLst/>
          </a:prstGeom>
          <a:noFill/>
        </p:spPr>
        <p:txBody>
          <a:bodyPr wrap="square">
            <a:spAutoFit/>
          </a:bodyPr>
          <a:lstStyle/>
          <a:p>
            <a:pPr marL="908050" algn="ctr">
              <a:lnSpc>
                <a:spcPct val="100000"/>
              </a:lnSpc>
              <a:spcBef>
                <a:spcPts val="100"/>
              </a:spcBef>
            </a:pPr>
            <a:r>
              <a:rPr lang="en-US" sz="1800" b="1" dirty="0">
                <a:latin typeface="Times New Roman"/>
                <a:cs typeface="Times New Roman"/>
              </a:rPr>
              <a:t>KONGUNADU</a:t>
            </a:r>
            <a:r>
              <a:rPr lang="en-US" sz="1800" b="1" spc="-20" dirty="0">
                <a:latin typeface="Times New Roman"/>
                <a:cs typeface="Times New Roman"/>
              </a:rPr>
              <a:t> </a:t>
            </a:r>
            <a:r>
              <a:rPr lang="en-US" sz="1800" b="1" dirty="0">
                <a:latin typeface="Times New Roman"/>
                <a:cs typeface="Times New Roman"/>
              </a:rPr>
              <a:t>COLLEGE</a:t>
            </a:r>
            <a:r>
              <a:rPr lang="en-US" sz="1800" b="1" spc="-15" dirty="0">
                <a:latin typeface="Times New Roman"/>
                <a:cs typeface="Times New Roman"/>
              </a:rPr>
              <a:t> </a:t>
            </a:r>
            <a:r>
              <a:rPr lang="en-US" sz="1800" b="1" dirty="0">
                <a:latin typeface="Times New Roman"/>
                <a:cs typeface="Times New Roman"/>
              </a:rPr>
              <a:t>OF</a:t>
            </a:r>
            <a:r>
              <a:rPr lang="en-US" sz="1800" b="1" spc="-75" dirty="0">
                <a:latin typeface="Times New Roman"/>
                <a:cs typeface="Times New Roman"/>
              </a:rPr>
              <a:t> </a:t>
            </a:r>
            <a:r>
              <a:rPr lang="en-US" sz="1800" b="1" dirty="0">
                <a:latin typeface="Times New Roman"/>
                <a:cs typeface="Times New Roman"/>
              </a:rPr>
              <a:t>ENGINEERING</a:t>
            </a:r>
            <a:r>
              <a:rPr lang="en-US" sz="1800" b="1" spc="-20" dirty="0">
                <a:latin typeface="Times New Roman"/>
                <a:cs typeface="Times New Roman"/>
              </a:rPr>
              <a:t> </a:t>
            </a:r>
            <a:r>
              <a:rPr lang="en-US" sz="1800" b="1" dirty="0">
                <a:latin typeface="Times New Roman"/>
                <a:cs typeface="Times New Roman"/>
              </a:rPr>
              <a:t>&amp;</a:t>
            </a:r>
            <a:r>
              <a:rPr lang="en-US" sz="1800" b="1" spc="-45" dirty="0">
                <a:latin typeface="Times New Roman"/>
                <a:cs typeface="Times New Roman"/>
              </a:rPr>
              <a:t> </a:t>
            </a:r>
            <a:r>
              <a:rPr lang="en-US" sz="1800" b="1" spc="-10" dirty="0">
                <a:latin typeface="Times New Roman"/>
                <a:cs typeface="Times New Roman"/>
              </a:rPr>
              <a:t>TECHNOLOGY</a:t>
            </a:r>
            <a:endParaRPr lang="en-US" sz="1800" dirty="0">
              <a:latin typeface="Times New Roman"/>
              <a:cs typeface="Times New Roman"/>
            </a:endParaRPr>
          </a:p>
          <a:p>
            <a:pPr marL="327660" algn="ctr">
              <a:lnSpc>
                <a:spcPct val="100000"/>
              </a:lnSpc>
            </a:pPr>
            <a:r>
              <a:rPr lang="en-US" sz="1800" b="1" spc="-10" dirty="0">
                <a:latin typeface="Times New Roman"/>
                <a:cs typeface="Times New Roman"/>
              </a:rPr>
              <a:t>(AUTONOMOUS)</a:t>
            </a:r>
            <a:endParaRPr lang="en-US" sz="1800" dirty="0">
              <a:latin typeface="Times New Roman"/>
              <a:cs typeface="Times New Roman"/>
            </a:endParaRPr>
          </a:p>
          <a:p>
            <a:pPr marL="681355" marR="344805" indent="-1270" algn="ctr">
              <a:lnSpc>
                <a:spcPct val="100000"/>
              </a:lnSpc>
              <a:spcBef>
                <a:spcPts val="5"/>
              </a:spcBef>
            </a:pPr>
            <a:r>
              <a:rPr lang="en-US" sz="1800" b="1" dirty="0">
                <a:latin typeface="Times New Roman"/>
                <a:cs typeface="Times New Roman"/>
              </a:rPr>
              <a:t>NAMAKKAL-</a:t>
            </a:r>
            <a:r>
              <a:rPr lang="en-US" sz="1800" b="1" spc="-70" dirty="0">
                <a:latin typeface="Times New Roman"/>
                <a:cs typeface="Times New Roman"/>
              </a:rPr>
              <a:t> </a:t>
            </a:r>
            <a:r>
              <a:rPr lang="en-US" sz="1800" b="1" dirty="0">
                <a:latin typeface="Times New Roman"/>
                <a:cs typeface="Times New Roman"/>
              </a:rPr>
              <a:t>TRICHY</a:t>
            </a:r>
            <a:r>
              <a:rPr lang="en-US" sz="1800" b="1" spc="-105" dirty="0">
                <a:latin typeface="Times New Roman"/>
                <a:cs typeface="Times New Roman"/>
              </a:rPr>
              <a:t> </a:t>
            </a:r>
            <a:r>
              <a:rPr lang="en-US" sz="1800" b="1" dirty="0">
                <a:latin typeface="Times New Roman"/>
                <a:cs typeface="Times New Roman"/>
              </a:rPr>
              <a:t>MAIN</a:t>
            </a:r>
            <a:r>
              <a:rPr lang="en-US" sz="1800" b="1" spc="-35" dirty="0">
                <a:latin typeface="Times New Roman"/>
                <a:cs typeface="Times New Roman"/>
              </a:rPr>
              <a:t> </a:t>
            </a:r>
            <a:r>
              <a:rPr lang="en-US" sz="1800" b="1" dirty="0">
                <a:latin typeface="Times New Roman"/>
                <a:cs typeface="Times New Roman"/>
              </a:rPr>
              <a:t>ROAD,</a:t>
            </a:r>
            <a:r>
              <a:rPr lang="en-US" sz="1800" b="1" spc="-65" dirty="0">
                <a:latin typeface="Times New Roman"/>
                <a:cs typeface="Times New Roman"/>
              </a:rPr>
              <a:t> </a:t>
            </a:r>
            <a:r>
              <a:rPr lang="en-US" sz="1800" b="1" spc="-10" dirty="0">
                <a:latin typeface="Times New Roman"/>
                <a:cs typeface="Times New Roman"/>
              </a:rPr>
              <a:t>THOTTIAM </a:t>
            </a:r>
            <a:r>
              <a:rPr lang="en-US" sz="1800" b="1" spc="-25" dirty="0">
                <a:latin typeface="Times New Roman"/>
                <a:cs typeface="Times New Roman"/>
              </a:rPr>
              <a:t>DEPARTMENT</a:t>
            </a:r>
            <a:r>
              <a:rPr lang="en-US" sz="1800" b="1" spc="-45" dirty="0">
                <a:latin typeface="Times New Roman"/>
                <a:cs typeface="Times New Roman"/>
              </a:rPr>
              <a:t> </a:t>
            </a:r>
            <a:r>
              <a:rPr lang="en-US" sz="1800" b="1" dirty="0">
                <a:latin typeface="Times New Roman"/>
                <a:cs typeface="Times New Roman"/>
              </a:rPr>
              <a:t>OF</a:t>
            </a:r>
            <a:r>
              <a:rPr lang="en-US" sz="1800" b="1" spc="-70" dirty="0">
                <a:latin typeface="Times New Roman"/>
                <a:cs typeface="Times New Roman"/>
              </a:rPr>
              <a:t> </a:t>
            </a:r>
            <a:r>
              <a:rPr lang="en-US" sz="1800" b="1" dirty="0">
                <a:latin typeface="Times New Roman"/>
                <a:cs typeface="Times New Roman"/>
              </a:rPr>
              <a:t>COMPUTER</a:t>
            </a:r>
            <a:r>
              <a:rPr lang="en-US" sz="1800" b="1" spc="-5" dirty="0">
                <a:latin typeface="Times New Roman"/>
                <a:cs typeface="Times New Roman"/>
              </a:rPr>
              <a:t> </a:t>
            </a:r>
            <a:r>
              <a:rPr lang="en-US" sz="1800" b="1" dirty="0">
                <a:latin typeface="Times New Roman"/>
                <a:cs typeface="Times New Roman"/>
              </a:rPr>
              <a:t>SCIENCE</a:t>
            </a:r>
            <a:r>
              <a:rPr lang="en-US" sz="1800" b="1" spc="-110" dirty="0">
                <a:latin typeface="Times New Roman"/>
                <a:cs typeface="Times New Roman"/>
              </a:rPr>
              <a:t> </a:t>
            </a:r>
            <a:r>
              <a:rPr lang="en-US" sz="1800" b="1" dirty="0">
                <a:latin typeface="Times New Roman"/>
                <a:cs typeface="Times New Roman"/>
              </a:rPr>
              <a:t>AND</a:t>
            </a:r>
            <a:r>
              <a:rPr lang="en-US" sz="1800" b="1" spc="-5" dirty="0">
                <a:latin typeface="Times New Roman"/>
                <a:cs typeface="Times New Roman"/>
              </a:rPr>
              <a:t> </a:t>
            </a:r>
            <a:r>
              <a:rPr lang="en-US" sz="1800" b="1" spc="-10" dirty="0">
                <a:latin typeface="Times New Roman"/>
                <a:cs typeface="Times New Roman"/>
              </a:rPr>
              <a:t>ENGINEERING</a:t>
            </a:r>
            <a:endParaRPr lang="en-US" sz="1800" dirty="0">
              <a:latin typeface="Times New Roman"/>
              <a:cs typeface="Times New Roman"/>
            </a:endParaRPr>
          </a:p>
          <a:p>
            <a:pPr>
              <a:lnSpc>
                <a:spcPct val="100000"/>
              </a:lnSpc>
              <a:spcBef>
                <a:spcPts val="1065"/>
              </a:spcBef>
            </a:pPr>
            <a:endParaRPr lang="en-US" sz="1800" dirty="0">
              <a:latin typeface="Times New Roman"/>
              <a:cs typeface="Times New Roman"/>
            </a:endParaRPr>
          </a:p>
          <a:p>
            <a:pPr marL="50800">
              <a:lnSpc>
                <a:spcPct val="100000"/>
              </a:lnSpc>
              <a:spcBef>
                <a:spcPts val="315"/>
              </a:spcBef>
            </a:pPr>
            <a:r>
              <a:rPr lang="en-US" sz="2400" b="1" dirty="0">
                <a:solidFill>
                  <a:srgbClr val="FF0000"/>
                </a:solidFill>
                <a:latin typeface="Times New Roman"/>
                <a:cs typeface="Times New Roman"/>
              </a:rPr>
              <a:t>                                   MINI PROJECT  I</a:t>
            </a:r>
          </a:p>
          <a:p>
            <a:pPr marL="50800">
              <a:lnSpc>
                <a:spcPct val="100000"/>
              </a:lnSpc>
              <a:spcBef>
                <a:spcPts val="315"/>
              </a:spcBef>
            </a:pPr>
            <a:r>
              <a:rPr lang="en-US" sz="2400" b="1" dirty="0">
                <a:solidFill>
                  <a:srgbClr val="FF0000"/>
                </a:solidFill>
                <a:latin typeface="Times New Roman"/>
                <a:cs typeface="Times New Roman"/>
              </a:rPr>
              <a:t>                                     </a:t>
            </a:r>
          </a:p>
          <a:p>
            <a:pPr marL="50800">
              <a:lnSpc>
                <a:spcPct val="100000"/>
              </a:lnSpc>
              <a:spcBef>
                <a:spcPts val="315"/>
              </a:spcBef>
            </a:pPr>
            <a:r>
              <a:rPr lang="en-US" sz="2400" b="1" spc="-10" dirty="0">
                <a:latin typeface="Times New Roman"/>
                <a:cs typeface="Times New Roman"/>
              </a:rPr>
              <a:t>PROJECT GUIDE:</a:t>
            </a:r>
          </a:p>
          <a:p>
            <a:pPr marL="50800">
              <a:lnSpc>
                <a:spcPct val="100000"/>
              </a:lnSpc>
              <a:spcBef>
                <a:spcPts val="315"/>
              </a:spcBef>
            </a:pPr>
            <a:r>
              <a:rPr lang="en-US" sz="2400" b="1" spc="-10" dirty="0">
                <a:latin typeface="Times New Roman"/>
                <a:cs typeface="Times New Roman"/>
              </a:rPr>
              <a:t>                      </a:t>
            </a:r>
            <a:r>
              <a:rPr lang="en-GB" sz="2400" b="1" spc="-10" dirty="0" err="1">
                <a:latin typeface="Times New Roman"/>
                <a:cs typeface="Times New Roman"/>
              </a:rPr>
              <a:t>Mr.M.Thangadurai</a:t>
            </a:r>
            <a:r>
              <a:rPr lang="en-GB" sz="2400" b="1" spc="-10" dirty="0">
                <a:latin typeface="Times New Roman"/>
                <a:cs typeface="Times New Roman"/>
              </a:rPr>
              <a:t> (ASP/CSE)</a:t>
            </a:r>
            <a:endParaRPr lang="en-US" sz="2400" b="1" spc="-10" dirty="0">
              <a:latin typeface="Times New Roman"/>
              <a:cs typeface="Times New Roman"/>
            </a:endParaRPr>
          </a:p>
        </p:txBody>
      </p:sp>
      <p:pic>
        <p:nvPicPr>
          <p:cNvPr id="4" name="object 5">
            <a:extLst>
              <a:ext uri="{FF2B5EF4-FFF2-40B4-BE49-F238E27FC236}">
                <a16:creationId xmlns:a16="http://schemas.microsoft.com/office/drawing/2014/main" id="{40CB3596-74B1-4F2E-866F-076E1FAF14D2}"/>
              </a:ext>
            </a:extLst>
          </p:cNvPr>
          <p:cNvPicPr/>
          <p:nvPr/>
        </p:nvPicPr>
        <p:blipFill>
          <a:blip r:embed="rId2" cstate="print"/>
          <a:stretch>
            <a:fillRect/>
          </a:stretch>
        </p:blipFill>
        <p:spPr>
          <a:xfrm>
            <a:off x="338665" y="221764"/>
            <a:ext cx="778183" cy="1379912"/>
          </a:xfrm>
          <a:prstGeom prst="rect">
            <a:avLst/>
          </a:prstGeom>
        </p:spPr>
      </p:pic>
      <p:sp>
        <p:nvSpPr>
          <p:cNvPr id="6" name="TextBox 5">
            <a:extLst>
              <a:ext uri="{FF2B5EF4-FFF2-40B4-BE49-F238E27FC236}">
                <a16:creationId xmlns:a16="http://schemas.microsoft.com/office/drawing/2014/main" id="{0501A97E-93A2-4B0E-9003-B11207ACD880}"/>
              </a:ext>
            </a:extLst>
          </p:cNvPr>
          <p:cNvSpPr txBox="1"/>
          <p:nvPr/>
        </p:nvSpPr>
        <p:spPr>
          <a:xfrm>
            <a:off x="666133" y="3886200"/>
            <a:ext cx="7848600" cy="2481192"/>
          </a:xfrm>
          <a:prstGeom prst="rect">
            <a:avLst/>
          </a:prstGeom>
          <a:noFill/>
        </p:spPr>
        <p:txBody>
          <a:bodyPr wrap="square">
            <a:spAutoFit/>
          </a:bodyPr>
          <a:lstStyle/>
          <a:p>
            <a:pPr marR="1052195">
              <a:lnSpc>
                <a:spcPct val="110000"/>
              </a:lnSpc>
              <a:spcBef>
                <a:spcPts val="100"/>
              </a:spcBef>
            </a:pPr>
            <a:r>
              <a:rPr lang="en-US" sz="2400" b="1" dirty="0">
                <a:latin typeface="Times New Roman"/>
                <a:cs typeface="Times New Roman"/>
              </a:rPr>
              <a:t>PROJECT</a:t>
            </a:r>
            <a:r>
              <a:rPr lang="en-US" sz="2400" b="1" spc="-125" dirty="0">
                <a:latin typeface="Times New Roman"/>
                <a:cs typeface="Times New Roman"/>
              </a:rPr>
              <a:t> </a:t>
            </a:r>
            <a:r>
              <a:rPr lang="en-US" sz="2400" b="1" spc="-10" dirty="0">
                <a:latin typeface="Times New Roman"/>
                <a:cs typeface="Times New Roman"/>
              </a:rPr>
              <a:t>TEAM:</a:t>
            </a:r>
          </a:p>
          <a:p>
            <a:pPr marR="1052195">
              <a:lnSpc>
                <a:spcPct val="110000"/>
              </a:lnSpc>
              <a:spcBef>
                <a:spcPts val="100"/>
              </a:spcBef>
            </a:pPr>
            <a:r>
              <a:rPr lang="en-GB" sz="2400" dirty="0"/>
              <a:t>		</a:t>
            </a:r>
            <a:r>
              <a:rPr lang="en-GB" sz="2400" b="1" spc="-10" dirty="0">
                <a:latin typeface="Times New Roman"/>
                <a:cs typeface="Times New Roman"/>
              </a:rPr>
              <a:t>Abdul </a:t>
            </a:r>
            <a:r>
              <a:rPr lang="en-GB" sz="2400" b="1" spc="-10" dirty="0" err="1">
                <a:latin typeface="Times New Roman"/>
                <a:cs typeface="Times New Roman"/>
              </a:rPr>
              <a:t>rahuman</a:t>
            </a:r>
            <a:r>
              <a:rPr lang="en-GB" sz="2400" b="1" spc="-10" dirty="0">
                <a:latin typeface="Times New Roman"/>
                <a:cs typeface="Times New Roman"/>
              </a:rPr>
              <a:t> S (621323104001)</a:t>
            </a:r>
          </a:p>
          <a:p>
            <a:pPr marR="1052195">
              <a:lnSpc>
                <a:spcPct val="110000"/>
              </a:lnSpc>
              <a:spcBef>
                <a:spcPts val="100"/>
              </a:spcBef>
            </a:pPr>
            <a:r>
              <a:rPr lang="en-GB" sz="2400" b="1" spc="-10" dirty="0">
                <a:latin typeface="Times New Roman"/>
                <a:cs typeface="Times New Roman"/>
              </a:rPr>
              <a:t>		Jeyanth </a:t>
            </a:r>
            <a:r>
              <a:rPr lang="en-GB" sz="2400" b="1" spc="-10" dirty="0" err="1">
                <a:latin typeface="Times New Roman"/>
                <a:cs typeface="Times New Roman"/>
              </a:rPr>
              <a:t>priyan</a:t>
            </a:r>
            <a:r>
              <a:rPr lang="en-GB" sz="2400" b="1" spc="-10" dirty="0">
                <a:latin typeface="Times New Roman"/>
                <a:cs typeface="Times New Roman"/>
              </a:rPr>
              <a:t>  B (621323104053)</a:t>
            </a:r>
          </a:p>
          <a:p>
            <a:pPr marR="1052195">
              <a:lnSpc>
                <a:spcPct val="110000"/>
              </a:lnSpc>
              <a:spcBef>
                <a:spcPts val="100"/>
              </a:spcBef>
            </a:pPr>
            <a:r>
              <a:rPr lang="en-GB" sz="2400" b="1" spc="-10" dirty="0">
                <a:latin typeface="Times New Roman"/>
                <a:cs typeface="Times New Roman"/>
              </a:rPr>
              <a:t>		Mukesh B      	       (621323104302)	</a:t>
            </a:r>
            <a:endParaRPr lang="en-US" sz="2400" b="1" spc="-10" dirty="0">
              <a:latin typeface="Times New Roman"/>
              <a:cs typeface="Times New Roman"/>
            </a:endParaRPr>
          </a:p>
          <a:p>
            <a:pPr marR="1052195">
              <a:lnSpc>
                <a:spcPct val="110000"/>
              </a:lnSpc>
              <a:spcBef>
                <a:spcPts val="100"/>
              </a:spcBef>
            </a:pPr>
            <a:endParaRPr lang="en-US" sz="1800" dirty="0">
              <a:latin typeface="Times New Roman"/>
              <a:cs typeface="Times New Roman"/>
            </a:endParaRPr>
          </a:p>
          <a:p>
            <a:pPr marL="12700">
              <a:lnSpc>
                <a:spcPct val="100000"/>
              </a:lnSpc>
              <a:spcBef>
                <a:spcPts val="290"/>
              </a:spcBef>
            </a:pPr>
            <a:r>
              <a:rPr lang="en-US" sz="2400" b="1" spc="-20" dirty="0">
                <a:latin typeface="Times New Roman"/>
                <a:cs typeface="Times New Roman"/>
              </a:rPr>
              <a:t>BATCH</a:t>
            </a:r>
            <a:r>
              <a:rPr lang="en-US" sz="2400" b="1" spc="-110" dirty="0">
                <a:latin typeface="Times New Roman"/>
                <a:cs typeface="Times New Roman"/>
              </a:rPr>
              <a:t> </a:t>
            </a:r>
            <a:r>
              <a:rPr lang="en-US" sz="2400" b="1" spc="-10" dirty="0">
                <a:latin typeface="Times New Roman"/>
                <a:cs typeface="Times New Roman"/>
              </a:rPr>
              <a:t>NO:21</a:t>
            </a:r>
            <a:endParaRPr lang="en-US" sz="2400" dirty="0">
              <a:latin typeface="Times New Roman"/>
              <a:cs typeface="Times New Roman"/>
            </a:endParaRPr>
          </a:p>
        </p:txBody>
      </p:sp>
    </p:spTree>
    <p:extLst>
      <p:ext uri="{BB962C8B-B14F-4D97-AF65-F5344CB8AC3E}">
        <p14:creationId xmlns:p14="http://schemas.microsoft.com/office/powerpoint/2010/main" val="1725001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147219"/>
            <a:ext cx="8229600" cy="563562"/>
          </a:xfrm>
        </p:spPr>
        <p:txBody>
          <a:bodyPr>
            <a:noAutofit/>
          </a:bodyPr>
          <a:lstStyle/>
          <a:p>
            <a:r>
              <a:rPr lang="en-US" b="1" dirty="0">
                <a:latin typeface="Times New Roman" panose="02020603050405020304" pitchFamily="18" charset="0"/>
                <a:cs typeface="Times New Roman" panose="02020603050405020304" pitchFamily="18" charset="0"/>
              </a:rPr>
              <a:t>Smart Bed Using Health Care Monitoring System</a:t>
            </a:r>
            <a:br>
              <a:rPr lang="en-IN" sz="3600" b="1" dirty="0">
                <a:latin typeface="Times New Roman" panose="02020603050405020304" pitchFamily="18" charset="0"/>
                <a:ea typeface="Calibri" panose="020F0502020204030204" pitchFamily="34"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pic>
        <p:nvPicPr>
          <p:cNvPr id="4" name="object 5">
            <a:extLst>
              <a:ext uri="{FF2B5EF4-FFF2-40B4-BE49-F238E27FC236}">
                <a16:creationId xmlns:a16="http://schemas.microsoft.com/office/drawing/2014/main" id="{0BABE253-C339-A1FF-C320-361D0DCBC05E}"/>
              </a:ext>
            </a:extLst>
          </p:cNvPr>
          <p:cNvPicPr/>
          <p:nvPr/>
        </p:nvPicPr>
        <p:blipFill>
          <a:blip r:embed="rId2" cstate="print"/>
          <a:stretch>
            <a:fillRect/>
          </a:stretch>
        </p:blipFill>
        <p:spPr>
          <a:xfrm>
            <a:off x="338665" y="221764"/>
            <a:ext cx="778183" cy="563562"/>
          </a:xfrm>
          <a:prstGeom prst="rect">
            <a:avLst/>
          </a:prstGeom>
        </p:spPr>
      </p:pic>
    </p:spTree>
    <p:extLst>
      <p:ext uri="{BB962C8B-B14F-4D97-AF65-F5344CB8AC3E}">
        <p14:creationId xmlns:p14="http://schemas.microsoft.com/office/powerpoint/2010/main" val="4782912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A2E05-BF2D-A278-92CD-C571A3CF24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E427A-3BA1-7DBB-2F67-4371FB632D62}"/>
              </a:ext>
            </a:extLst>
          </p:cNvPr>
          <p:cNvSpPr>
            <a:spLocks noGrp="1"/>
          </p:cNvSpPr>
          <p:nvPr>
            <p:ph type="title"/>
          </p:nvPr>
        </p:nvSpPr>
        <p:spPr>
          <a:xfrm>
            <a:off x="457200" y="152400"/>
            <a:ext cx="8229600" cy="563562"/>
          </a:xfrm>
        </p:spPr>
        <p:txBody>
          <a:bodyPr>
            <a:normAutofit fontScale="90000"/>
          </a:bodyPr>
          <a:lstStyle/>
          <a:p>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75396B4-41B7-D79A-4818-BA424400441A}"/>
              </a:ext>
            </a:extLst>
          </p:cNvPr>
          <p:cNvSpPr>
            <a:spLocks noGrp="1"/>
          </p:cNvSpPr>
          <p:nvPr>
            <p:ph idx="1"/>
          </p:nvPr>
        </p:nvSpPr>
        <p:spPr>
          <a:xfrm>
            <a:off x="457200" y="715962"/>
            <a:ext cx="8229600" cy="5799138"/>
          </a:xfrm>
        </p:spPr>
        <p:txBody>
          <a:bodyPr>
            <a:noAutofit/>
          </a:bodyPr>
          <a:lstStyle/>
          <a:p>
            <a:pPr marL="0" indent="0" algn="just">
              <a:lnSpc>
                <a:spcPct val="160000"/>
              </a:lnSpc>
              <a:buNone/>
            </a:pPr>
            <a:r>
              <a:rPr lang="en-US" sz="1800" dirty="0">
                <a:latin typeface="Times New Roman" panose="02020603050405020304" pitchFamily="18" charset="0"/>
                <a:cs typeface="Times New Roman" panose="02020603050405020304" pitchFamily="18" charset="0"/>
              </a:rPr>
              <a:t>The integration of Internet of Things (IoT) technology in healthcare has enabled the development of intelligent systems that provide continuous patient monitoring and timely medical assistance. This project, medical health care monitoring System using IoT, aims to monitor the vital health parameters of patients such as body temperature, heart rate, oxygen saturation, and blood pressure using a network of sensors. The system detects whether the patient is lying in bed and collects health data in real time. The sensed data is transmitted to an IoT-enabled microcontroller, for remote access by doctors and nurses through a web or mobile application. If any abnormal condition is detected, such as a sudden drop in oxygen level or irregular heart rate, the system generates an alert notification to healthcare providers, ensuring immediate medical response. This IoT-based monitoring system reduces the dependency on manual supervision, enhances patient safety, and improves the efficiency of healthcare delivery, especially for bedridden and critical patients.</a:t>
            </a:r>
            <a:endParaRPr lang="en-IN" sz="1800" dirty="0">
              <a:latin typeface="Times New Roman" panose="02020603050405020304" pitchFamily="18" charset="0"/>
              <a:cs typeface="Times New Roman" pitchFamily="18" charset="0"/>
            </a:endParaRPr>
          </a:p>
        </p:txBody>
      </p:sp>
      <p:pic>
        <p:nvPicPr>
          <p:cNvPr id="4" name="object 5">
            <a:extLst>
              <a:ext uri="{FF2B5EF4-FFF2-40B4-BE49-F238E27FC236}">
                <a16:creationId xmlns:a16="http://schemas.microsoft.com/office/drawing/2014/main" id="{4229BC5F-2FF3-D815-8148-0D5A12B2A9A7}"/>
              </a:ext>
            </a:extLst>
          </p:cNvPr>
          <p:cNvPicPr/>
          <p:nvPr/>
        </p:nvPicPr>
        <p:blipFill>
          <a:blip r:embed="rId2" cstate="print"/>
          <a:stretch>
            <a:fillRect/>
          </a:stretch>
        </p:blipFill>
        <p:spPr>
          <a:xfrm>
            <a:off x="338665" y="221764"/>
            <a:ext cx="778183" cy="563562"/>
          </a:xfrm>
          <a:prstGeom prst="rect">
            <a:avLst/>
          </a:prstGeom>
        </p:spPr>
      </p:pic>
    </p:spTree>
    <p:extLst>
      <p:ext uri="{BB962C8B-B14F-4D97-AF65-F5344CB8AC3E}">
        <p14:creationId xmlns:p14="http://schemas.microsoft.com/office/powerpoint/2010/main" val="1930487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F1F400-8567-46AA-9549-388BE885D28A}"/>
              </a:ext>
            </a:extLst>
          </p:cNvPr>
          <p:cNvSpPr txBox="1"/>
          <p:nvPr/>
        </p:nvSpPr>
        <p:spPr>
          <a:xfrm>
            <a:off x="2590800" y="260317"/>
            <a:ext cx="5715000" cy="707886"/>
          </a:xfrm>
          <a:prstGeom prst="rect">
            <a:avLst/>
          </a:prstGeom>
          <a:noFill/>
        </p:spPr>
        <p:txBody>
          <a:bodyPr wrap="square">
            <a:spAutoFit/>
          </a:bodyPr>
          <a:lstStyle/>
          <a:p>
            <a:r>
              <a:rPr lang="en-US" sz="4000" b="1" dirty="0">
                <a:latin typeface="Times New Roman" panose="02020603050405020304" pitchFamily="18" charset="0"/>
                <a:cs typeface="Times New Roman" panose="02020603050405020304" pitchFamily="18" charset="0"/>
              </a:rPr>
              <a:t>INTRODUCTION</a:t>
            </a:r>
            <a:endParaRPr lang="en-IN" sz="4000" dirty="0"/>
          </a:p>
        </p:txBody>
      </p:sp>
      <p:sp>
        <p:nvSpPr>
          <p:cNvPr id="5" name="TextBox 4">
            <a:extLst>
              <a:ext uri="{FF2B5EF4-FFF2-40B4-BE49-F238E27FC236}">
                <a16:creationId xmlns:a16="http://schemas.microsoft.com/office/drawing/2014/main" id="{C78ED1AC-2192-4BCF-846A-C9606DAF8F7B}"/>
              </a:ext>
            </a:extLst>
          </p:cNvPr>
          <p:cNvSpPr txBox="1"/>
          <p:nvPr/>
        </p:nvSpPr>
        <p:spPr>
          <a:xfrm>
            <a:off x="647700" y="1031736"/>
            <a:ext cx="7848600" cy="5450851"/>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Healthcare technology has advanced significantly, yet continuous and real-time patient monitoring in hospitals and home care settings remains a challenge. Manual monitoring often leads to delays in detecting critical health changes, putting patients at risk.</a:t>
            </a:r>
          </a:p>
          <a:p>
            <a:pPr>
              <a:lnSpc>
                <a:spcPct val="150000"/>
              </a:lnSpc>
            </a:pPr>
            <a:r>
              <a:rPr lang="en-US" dirty="0">
                <a:latin typeface="Times New Roman" panose="02020603050405020304" pitchFamily="18" charset="0"/>
                <a:cs typeface="Times New Roman" panose="02020603050405020304" pitchFamily="18" charset="0"/>
              </a:rPr>
              <a:t>This project aims to develop a </a:t>
            </a:r>
            <a:r>
              <a:rPr lang="en-US" b="1" dirty="0">
                <a:latin typeface="Times New Roman" panose="02020603050405020304" pitchFamily="18" charset="0"/>
                <a:cs typeface="Times New Roman" panose="02020603050405020304" pitchFamily="18" charset="0"/>
              </a:rPr>
              <a:t>Smart Bed Patient Monitoring System</a:t>
            </a:r>
            <a:r>
              <a:rPr lang="en-US" dirty="0">
                <a:latin typeface="Times New Roman" panose="02020603050405020304" pitchFamily="18" charset="0"/>
                <a:cs typeface="Times New Roman" panose="02020603050405020304" pitchFamily="18" charset="0"/>
              </a:rPr>
              <a:t> using the Internet of Things (IoT) to provide </a:t>
            </a:r>
            <a:r>
              <a:rPr lang="en-US" b="1" dirty="0">
                <a:latin typeface="Times New Roman" panose="02020603050405020304" pitchFamily="18" charset="0"/>
                <a:cs typeface="Times New Roman" panose="02020603050405020304" pitchFamily="18" charset="0"/>
              </a:rPr>
              <a:t>automated, real-time health tracking</a:t>
            </a:r>
            <a:r>
              <a:rPr lang="en-US" dirty="0">
                <a:latin typeface="Times New Roman" panose="02020603050405020304" pitchFamily="18" charset="0"/>
                <a:cs typeface="Times New Roman" panose="02020603050405020304" pitchFamily="18" charset="0"/>
              </a:rPr>
              <a:t>. The system uses sensors to monitor:</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Patient presence on the bed</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Heart rate and blood pressure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IV fluid levels</a:t>
            </a:r>
          </a:p>
          <a:p>
            <a:pPr>
              <a:lnSpc>
                <a:spcPct val="150000"/>
              </a:lnSpc>
            </a:pPr>
            <a:r>
              <a:rPr lang="en-US" dirty="0">
                <a:latin typeface="Times New Roman" panose="02020603050405020304" pitchFamily="18" charset="0"/>
                <a:cs typeface="Times New Roman" panose="02020603050405020304" pitchFamily="18" charset="0"/>
              </a:rPr>
              <a:t>Whenever abnormal readings are detected, the system sends alerts through </a:t>
            </a:r>
            <a:r>
              <a:rPr lang="en-US" b="1" dirty="0">
                <a:latin typeface="Times New Roman" panose="02020603050405020304" pitchFamily="18" charset="0"/>
                <a:cs typeface="Times New Roman" panose="02020603050405020304" pitchFamily="18" charset="0"/>
              </a:rPr>
              <a:t> notifications, mobile app updates, or SMS</a:t>
            </a:r>
            <a:r>
              <a:rPr lang="en-US" dirty="0">
                <a:latin typeface="Times New Roman" panose="02020603050405020304" pitchFamily="18" charset="0"/>
                <a:cs typeface="Times New Roman" panose="02020603050405020304" pitchFamily="18" charset="0"/>
              </a:rPr>
              <a:t> to healthcare providers. The data is also uploaded to the cloud via </a:t>
            </a:r>
            <a:r>
              <a:rPr lang="en-US" b="1" dirty="0">
                <a:latin typeface="Times New Roman" panose="02020603050405020304" pitchFamily="18" charset="0"/>
                <a:cs typeface="Times New Roman" panose="02020603050405020304" pitchFamily="18" charset="0"/>
              </a:rPr>
              <a:t>Firebase</a:t>
            </a:r>
            <a:r>
              <a:rPr lang="en-US" dirty="0">
                <a:latin typeface="Times New Roman" panose="02020603050405020304" pitchFamily="18" charset="0"/>
                <a:cs typeface="Times New Roman" panose="02020603050405020304" pitchFamily="18" charset="0"/>
              </a:rPr>
              <a:t> for real-time access.</a:t>
            </a:r>
          </a:p>
        </p:txBody>
      </p:sp>
      <p:pic>
        <p:nvPicPr>
          <p:cNvPr id="2" name="object 5">
            <a:extLst>
              <a:ext uri="{FF2B5EF4-FFF2-40B4-BE49-F238E27FC236}">
                <a16:creationId xmlns:a16="http://schemas.microsoft.com/office/drawing/2014/main" id="{7F8C0684-424C-1E21-31C8-2F9C272B21A2}"/>
              </a:ext>
            </a:extLst>
          </p:cNvPr>
          <p:cNvPicPr/>
          <p:nvPr/>
        </p:nvPicPr>
        <p:blipFill>
          <a:blip r:embed="rId2" cstate="print"/>
          <a:stretch>
            <a:fillRect/>
          </a:stretch>
        </p:blipFill>
        <p:spPr>
          <a:xfrm>
            <a:off x="338665" y="221764"/>
            <a:ext cx="778183" cy="707886"/>
          </a:xfrm>
          <a:prstGeom prst="rect">
            <a:avLst/>
          </a:prstGeom>
        </p:spPr>
      </p:pic>
    </p:spTree>
    <p:extLst>
      <p:ext uri="{BB962C8B-B14F-4D97-AF65-F5344CB8AC3E}">
        <p14:creationId xmlns:p14="http://schemas.microsoft.com/office/powerpoint/2010/main" val="615429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LITERATURE SURVEY</a:t>
            </a:r>
            <a:endParaRPr lang="en-GB"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53051818"/>
              </p:ext>
            </p:extLst>
          </p:nvPr>
        </p:nvGraphicFramePr>
        <p:xfrm>
          <a:off x="457200" y="1431634"/>
          <a:ext cx="8229600" cy="4785361"/>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gridCol w="2209800">
                  <a:extLst>
                    <a:ext uri="{9D8B030D-6E8A-4147-A177-3AD203B41FA5}">
                      <a16:colId xmlns:a16="http://schemas.microsoft.com/office/drawing/2014/main" val="20004"/>
                    </a:ext>
                  </a:extLst>
                </a:gridCol>
              </a:tblGrid>
              <a:tr h="1112520">
                <a:tc>
                  <a:txBody>
                    <a:bodyPr/>
                    <a:lstStyle/>
                    <a:p>
                      <a:pPr algn="ctr"/>
                      <a:endParaRPr lang="en-IN" sz="1800" b="1" kern="1200" dirty="0">
                        <a:solidFill>
                          <a:schemeClr val="lt1"/>
                        </a:solidFill>
                        <a:effectLst/>
                        <a:latin typeface="Times New Roman" panose="02020603050405020304" pitchFamily="18" charset="0"/>
                        <a:ea typeface="+mn-ea"/>
                        <a:cs typeface="Times New Roman" panose="02020603050405020304" pitchFamily="18" charset="0"/>
                      </a:endParaRPr>
                    </a:p>
                    <a:p>
                      <a:pPr algn="ctr"/>
                      <a:r>
                        <a:rPr lang="en-IN" sz="1800" b="1" kern="1200" dirty="0" err="1">
                          <a:solidFill>
                            <a:schemeClr val="lt1"/>
                          </a:solidFill>
                          <a:effectLst/>
                          <a:latin typeface="Times New Roman" panose="02020603050405020304" pitchFamily="18" charset="0"/>
                          <a:ea typeface="+mn-ea"/>
                          <a:cs typeface="Times New Roman" panose="02020603050405020304" pitchFamily="18" charset="0"/>
                        </a:rPr>
                        <a:t>S.No</a:t>
                      </a:r>
                      <a:endParaRPr lang="en-GB"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Authors</a:t>
                      </a:r>
                      <a:r>
                        <a:rPr lang="en-IN" sz="1800" b="1" baseline="0" dirty="0">
                          <a:effectLst/>
                          <a:latin typeface="Times New Roman" panose="02020603050405020304" pitchFamily="18" charset="0"/>
                          <a:ea typeface="Calibri" panose="020F0502020204030204" pitchFamily="34" charset="0"/>
                          <a:cs typeface="Times New Roman" panose="02020603050405020304" pitchFamily="18" charset="0"/>
                        </a:rPr>
                        <a:t> &amp; Year of  Publication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Journal</a:t>
                      </a:r>
                      <a:endParaRPr lang="en-GB"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Title of the paper</a:t>
                      </a:r>
                    </a:p>
                    <a:p>
                      <a:pPr algn="ct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FFFFFF"/>
                          </a:solidFill>
                          <a:latin typeface="Times New Roman" panose="02020603050405020304" pitchFamily="18" charset="0"/>
                          <a:cs typeface="Times New Roman" panose="02020603050405020304" pitchFamily="18" charset="0"/>
                        </a:rPr>
                        <a:t>Advantages &amp;</a:t>
                      </a:r>
                      <a:r>
                        <a:rPr lang="en-US" sz="1800" b="1" spc="-55" dirty="0">
                          <a:solidFill>
                            <a:srgbClr val="FFFFFF"/>
                          </a:solidFill>
                          <a:latin typeface="Times New Roman" panose="02020603050405020304" pitchFamily="18" charset="0"/>
                          <a:cs typeface="Times New Roman" panose="02020603050405020304" pitchFamily="18" charset="0"/>
                        </a:rPr>
                        <a:t> </a:t>
                      </a:r>
                      <a:r>
                        <a:rPr lang="en-US" sz="1800" b="1" spc="-10" dirty="0">
                          <a:solidFill>
                            <a:srgbClr val="FFFFFF"/>
                          </a:solidFill>
                          <a:latin typeface="Times New Roman" panose="02020603050405020304" pitchFamily="18" charset="0"/>
                          <a:cs typeface="Times New Roman" panose="02020603050405020304" pitchFamily="18" charset="0"/>
                        </a:rPr>
                        <a:t>Limitations</a:t>
                      </a:r>
                      <a:endParaRPr lang="en-US" sz="1800" dirty="0">
                        <a:latin typeface="Times New Roman" panose="02020603050405020304" pitchFamily="18" charset="0"/>
                        <a:cs typeface="Times New Roman" panose="02020603050405020304" pitchFamily="18" charset="0"/>
                      </a:endParaRPr>
                    </a:p>
                    <a:p>
                      <a:pPr algn="ctr"/>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426722">
                <a:tc>
                  <a:txBody>
                    <a:bodyPr/>
                    <a:lstStyle/>
                    <a:p>
                      <a:pPr algn="just"/>
                      <a:endParaRPr lang="en-GB" dirty="0">
                        <a:latin typeface="Times New Roman" panose="02020603050405020304" pitchFamily="18" charset="0"/>
                        <a:cs typeface="Times New Roman" panose="02020603050405020304" pitchFamily="18" charset="0"/>
                      </a:endParaRPr>
                    </a:p>
                    <a:p>
                      <a:pPr algn="just"/>
                      <a:endParaRPr lang="en-GB" dirty="0">
                        <a:latin typeface="Times New Roman" panose="02020603050405020304" pitchFamily="18" charset="0"/>
                        <a:cs typeface="Times New Roman" panose="02020603050405020304" pitchFamily="18" charset="0"/>
                      </a:endParaRPr>
                    </a:p>
                    <a:p>
                      <a:pPr algn="just"/>
                      <a:r>
                        <a:rPr lang="en-GB" dirty="0">
                          <a:latin typeface="Times New Roman" panose="02020603050405020304" pitchFamily="18" charset="0"/>
                          <a:cs typeface="Times New Roman" panose="02020603050405020304" pitchFamily="18" charset="0"/>
                        </a:rPr>
                        <a:t>1.</a:t>
                      </a:r>
                    </a:p>
                  </a:txBody>
                  <a:tcPr/>
                </a:tc>
                <a:tc>
                  <a:txBody>
                    <a:bodyPr/>
                    <a:lstStyle/>
                    <a:p>
                      <a:pPr>
                        <a:buNone/>
                      </a:pPr>
                      <a:r>
                        <a:rPr lang="en-IN" dirty="0">
                          <a:latin typeface="Times New Roman" panose="02020603050405020304" pitchFamily="18" charset="0"/>
                          <a:cs typeface="Times New Roman" panose="02020603050405020304" pitchFamily="18" charset="0"/>
                        </a:rPr>
                        <a:t>R. Kumar, S. Rajendran (2020)</a:t>
                      </a:r>
                    </a:p>
                  </a:txBody>
                  <a:tcPr anchor="ctr"/>
                </a:tc>
                <a:tc>
                  <a:txBody>
                    <a:bodyPr/>
                    <a:lstStyle/>
                    <a:p>
                      <a:pPr algn="just"/>
                      <a:r>
                        <a:rPr lang="en-IN" sz="1600" dirty="0">
                          <a:latin typeface="Times New Roman" panose="02020603050405020304" pitchFamily="18" charset="0"/>
                          <a:cs typeface="Times New Roman" panose="02020603050405020304" pitchFamily="18" charset="0"/>
                        </a:rPr>
                        <a:t>International Journal of IoT Applications</a:t>
                      </a:r>
                      <a:endParaRPr lang="en-GB" sz="1600" dirty="0">
                        <a:latin typeface="Times New Roman" pitchFamily="18" charset="0"/>
                        <a:cs typeface="Times New Roman"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IoT-Based Real-Time Patient Health Monitoring System</a:t>
                      </a:r>
                      <a:endParaRPr lang="en-GB" sz="1600" dirty="0">
                        <a:latin typeface="Times New Roman" pitchFamily="18" charset="0"/>
                        <a:cs typeface="Times New Roman"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Real-time monitoring basic sensors only</a:t>
                      </a:r>
                      <a:r>
                        <a:rPr lang="en-GB" sz="1600" dirty="0">
                          <a:latin typeface="Times New Roman" pitchFamily="18" charset="0"/>
                          <a:cs typeface="Times New Roman" pitchFamily="18" charset="0"/>
                        </a:rPr>
                        <a:t>.</a:t>
                      </a:r>
                    </a:p>
                    <a:p>
                      <a:pPr algn="just"/>
                      <a:endParaRPr lang="en-GB" sz="160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1463041">
                <a:tc>
                  <a:txBody>
                    <a:bodyPr/>
                    <a:lstStyle/>
                    <a:p>
                      <a:pPr algn="just"/>
                      <a:endParaRPr lang="en-GB" dirty="0">
                        <a:latin typeface="Times New Roman" panose="02020603050405020304" pitchFamily="18" charset="0"/>
                        <a:cs typeface="Times New Roman" panose="02020603050405020304" pitchFamily="18" charset="0"/>
                      </a:endParaRPr>
                    </a:p>
                    <a:p>
                      <a:pPr algn="just"/>
                      <a:endParaRPr lang="en-GB" dirty="0">
                        <a:latin typeface="Times New Roman" panose="02020603050405020304" pitchFamily="18" charset="0"/>
                        <a:cs typeface="Times New Roman" panose="02020603050405020304" pitchFamily="18" charset="0"/>
                      </a:endParaRPr>
                    </a:p>
                    <a:p>
                      <a:pPr algn="just"/>
                      <a:r>
                        <a:rPr lang="en-GB" dirty="0">
                          <a:latin typeface="Times New Roman" panose="02020603050405020304" pitchFamily="18" charset="0"/>
                          <a:cs typeface="Times New Roman" panose="02020603050405020304" pitchFamily="18" charset="0"/>
                        </a:rPr>
                        <a:t>2.</a:t>
                      </a:r>
                    </a:p>
                  </a:txBody>
                  <a:tcPr/>
                </a:tc>
                <a:tc>
                  <a:txBody>
                    <a:bodyPr/>
                    <a:lstStyle/>
                    <a:p>
                      <a:pPr>
                        <a:buNone/>
                      </a:pPr>
                      <a:r>
                        <a:rPr lang="pt-BR" dirty="0">
                          <a:latin typeface="Times New Roman" panose="02020603050405020304" pitchFamily="18" charset="0"/>
                          <a:cs typeface="Times New Roman" panose="02020603050405020304" pitchFamily="18" charset="0"/>
                        </a:rPr>
                        <a:t>A. Sharma, P. Gupta (2021)</a:t>
                      </a:r>
                      <a:endParaRPr lang="en-IN" dirty="0">
                        <a:latin typeface="Times New Roman" panose="02020603050405020304" pitchFamily="18" charset="0"/>
                        <a:cs typeface="Times New Roman" panose="02020603050405020304" pitchFamily="18" charset="0"/>
                      </a:endParaRPr>
                    </a:p>
                  </a:txBody>
                  <a:tcPr anchor="ctr"/>
                </a:tc>
                <a:tc>
                  <a:txBody>
                    <a:bodyPr/>
                    <a:lstStyle/>
                    <a:p>
                      <a:pPr algn="l"/>
                      <a:r>
                        <a:rPr lang="en-IN" sz="1600" dirty="0">
                          <a:latin typeface="Times New Roman" panose="02020603050405020304" pitchFamily="18" charset="0"/>
                          <a:cs typeface="Times New Roman" panose="02020603050405020304" pitchFamily="18" charset="0"/>
                        </a:rPr>
                        <a:t>International Journal of Computer Science &amp; </a:t>
                      </a:r>
                      <a:r>
                        <a:rPr lang="en-IN" sz="1600" dirty="0" err="1">
                          <a:latin typeface="Times New Roman" panose="02020603050405020304" pitchFamily="18" charset="0"/>
                          <a:cs typeface="Times New Roman" panose="02020603050405020304" pitchFamily="18" charset="0"/>
                        </a:rPr>
                        <a:t>Engg</a:t>
                      </a:r>
                      <a:endParaRPr lang="en-GB" sz="1600" dirty="0">
                        <a:latin typeface="Times New Roman" pitchFamily="18" charset="0"/>
                        <a:cs typeface="Times New Roman"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Smart Bed with Heart Rate and SpO2 Monitoring using </a:t>
                      </a:r>
                      <a:r>
                        <a:rPr lang="en-US" sz="1600" dirty="0" err="1">
                          <a:latin typeface="Times New Roman" panose="02020603050405020304" pitchFamily="18" charset="0"/>
                          <a:cs typeface="Times New Roman" panose="02020603050405020304" pitchFamily="18" charset="0"/>
                        </a:rPr>
                        <a:t>NodeMCU</a:t>
                      </a:r>
                      <a:r>
                        <a:rPr lang="en-US" sz="1600" dirty="0">
                          <a:latin typeface="Times New Roman" panose="02020603050405020304" pitchFamily="18" charset="0"/>
                          <a:cs typeface="Times New Roman" panose="02020603050405020304" pitchFamily="18" charset="0"/>
                        </a:rPr>
                        <a:t> and Firebase.</a:t>
                      </a:r>
                      <a:endParaRPr lang="en-GB" sz="1600" dirty="0">
                        <a:latin typeface="Times New Roman" pitchFamily="18" charset="0"/>
                        <a:cs typeface="Times New Roman"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Mobile app alerts limited to single patient</a:t>
                      </a:r>
                      <a:endParaRPr lang="en-GB" sz="16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1295400">
                <a:tc>
                  <a:txBody>
                    <a:bodyPr/>
                    <a:lstStyle/>
                    <a:p>
                      <a:pPr algn="just"/>
                      <a:endParaRPr lang="en-GB" dirty="0">
                        <a:latin typeface="Times New Roman" pitchFamily="18" charset="0"/>
                        <a:cs typeface="Times New Roman" pitchFamily="18" charset="0"/>
                      </a:endParaRPr>
                    </a:p>
                    <a:p>
                      <a:pPr algn="just"/>
                      <a:r>
                        <a:rPr lang="en-GB" dirty="0">
                          <a:latin typeface="Times New Roman" pitchFamily="18" charset="0"/>
                          <a:cs typeface="Times New Roman" pitchFamily="18" charset="0"/>
                        </a:rPr>
                        <a:t>3.</a:t>
                      </a:r>
                    </a:p>
                  </a:txBody>
                  <a:tcPr/>
                </a:tc>
                <a:tc>
                  <a:txBody>
                    <a:bodyPr/>
                    <a:lstStyle/>
                    <a:p>
                      <a:pPr>
                        <a:buNone/>
                      </a:pPr>
                      <a:r>
                        <a:rPr lang="fi-FI" dirty="0">
                          <a:latin typeface="Times New Roman" panose="02020603050405020304" pitchFamily="18" charset="0"/>
                          <a:cs typeface="Times New Roman" panose="02020603050405020304" pitchFamily="18" charset="0"/>
                        </a:rPr>
                        <a:t>D. Patel, S. Mehta (2022)</a:t>
                      </a:r>
                      <a:endParaRPr lang="en-IN" dirty="0">
                        <a:latin typeface="Times New Roman" panose="02020603050405020304" pitchFamily="18" charset="0"/>
                        <a:cs typeface="Times New Roman" panose="02020603050405020304" pitchFamily="18" charset="0"/>
                      </a:endParaRPr>
                    </a:p>
                  </a:txBody>
                  <a:tcPr anchor="ctr"/>
                </a:tc>
                <a:tc>
                  <a:txBody>
                    <a:bodyPr/>
                    <a:lstStyle/>
                    <a:p>
                      <a:pPr algn="just"/>
                      <a:r>
                        <a:rPr lang="en-US" sz="1600" dirty="0">
                          <a:latin typeface="Times New Roman" panose="02020603050405020304" pitchFamily="18" charset="0"/>
                          <a:cs typeface="Times New Roman" panose="02020603050405020304" pitchFamily="18" charset="0"/>
                        </a:rPr>
                        <a:t>International Journal of Electronics &amp; Comm. </a:t>
                      </a:r>
                      <a:r>
                        <a:rPr lang="en-US" sz="1600" dirty="0" err="1">
                          <a:latin typeface="Times New Roman" panose="02020603050405020304" pitchFamily="18" charset="0"/>
                          <a:cs typeface="Times New Roman" panose="02020603050405020304" pitchFamily="18" charset="0"/>
                        </a:rPr>
                        <a:t>Engg</a:t>
                      </a:r>
                      <a:endParaRPr lang="en-GB" sz="1600" dirty="0">
                        <a:latin typeface="Times New Roman" pitchFamily="18" charset="0"/>
                        <a:cs typeface="Times New Roman"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Patient Health Monitoring with SMS and Voice Alerts</a:t>
                      </a:r>
                      <a:endParaRPr lang="en-GB" sz="1600" dirty="0">
                        <a:latin typeface="Times New Roman" pitchFamily="18" charset="0"/>
                        <a:cs typeface="Times New Roman" pitchFamily="18" charset="0"/>
                      </a:endParaRPr>
                    </a:p>
                  </a:txBody>
                  <a:tcPr/>
                </a:tc>
                <a:tc>
                  <a:txBody>
                    <a:bodyPr/>
                    <a:lstStyle/>
                    <a:p>
                      <a:pPr algn="l"/>
                      <a:r>
                        <a:rPr lang="en-US" sz="1600" dirty="0">
                          <a:latin typeface="Times New Roman" panose="02020603050405020304" pitchFamily="18" charset="0"/>
                          <a:cs typeface="Times New Roman" panose="02020603050405020304" pitchFamily="18" charset="0"/>
                        </a:rPr>
                        <a:t>SMS alerts implemented; no cloud data storage</a:t>
                      </a:r>
                    </a:p>
                    <a:p>
                      <a:pPr algn="l"/>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pic>
        <p:nvPicPr>
          <p:cNvPr id="9" name="object 5">
            <a:extLst>
              <a:ext uri="{FF2B5EF4-FFF2-40B4-BE49-F238E27FC236}">
                <a16:creationId xmlns:a16="http://schemas.microsoft.com/office/drawing/2014/main" id="{C7D1C7C4-40F0-260F-6C56-ECC059730BDD}"/>
              </a:ext>
            </a:extLst>
          </p:cNvPr>
          <p:cNvPicPr/>
          <p:nvPr/>
        </p:nvPicPr>
        <p:blipFill>
          <a:blip r:embed="rId2" cstate="print"/>
          <a:stretch>
            <a:fillRect/>
          </a:stretch>
        </p:blipFill>
        <p:spPr>
          <a:xfrm>
            <a:off x="338665" y="221764"/>
            <a:ext cx="778183" cy="707886"/>
          </a:xfrm>
          <a:prstGeom prst="rect">
            <a:avLst/>
          </a:prstGeom>
        </p:spPr>
      </p:pic>
    </p:spTree>
    <p:extLst>
      <p:ext uri="{BB962C8B-B14F-4D97-AF65-F5344CB8AC3E}">
        <p14:creationId xmlns:p14="http://schemas.microsoft.com/office/powerpoint/2010/main" val="1724371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FEF18-C2F9-6A91-AD57-2F8FE65FD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06BDC-8041-7F46-EC7E-F25559133F29}"/>
              </a:ext>
            </a:extLst>
          </p:cNvPr>
          <p:cNvSpPr>
            <a:spLocks noGrp="1"/>
          </p:cNvSpPr>
          <p:nvPr>
            <p:ph type="title"/>
          </p:nvPr>
        </p:nvSpPr>
        <p:spPr>
          <a:xfrm>
            <a:off x="457200" y="49044"/>
            <a:ext cx="8229600" cy="1143000"/>
          </a:xfrm>
        </p:spPr>
        <p:txBody>
          <a:bodyPr/>
          <a:lstStyle/>
          <a:p>
            <a:r>
              <a:rPr lang="en-US" b="1" dirty="0">
                <a:latin typeface="Times New Roman" panose="02020603050405020304" pitchFamily="18" charset="0"/>
                <a:cs typeface="Times New Roman" panose="02020603050405020304" pitchFamily="18" charset="0"/>
              </a:rPr>
              <a:t>LITERATURE SURVEY</a:t>
            </a:r>
            <a:endParaRPr lang="en-GB" dirty="0"/>
          </a:p>
        </p:txBody>
      </p:sp>
      <p:pic>
        <p:nvPicPr>
          <p:cNvPr id="9" name="object 5">
            <a:extLst>
              <a:ext uri="{FF2B5EF4-FFF2-40B4-BE49-F238E27FC236}">
                <a16:creationId xmlns:a16="http://schemas.microsoft.com/office/drawing/2014/main" id="{278FF792-DA4E-36E2-98E1-34DC992C700B}"/>
              </a:ext>
            </a:extLst>
          </p:cNvPr>
          <p:cNvPicPr/>
          <p:nvPr/>
        </p:nvPicPr>
        <p:blipFill>
          <a:blip r:embed="rId2" cstate="print"/>
          <a:stretch>
            <a:fillRect/>
          </a:stretch>
        </p:blipFill>
        <p:spPr>
          <a:xfrm>
            <a:off x="381000" y="118497"/>
            <a:ext cx="778183" cy="707886"/>
          </a:xfrm>
          <a:prstGeom prst="rect">
            <a:avLst/>
          </a:prstGeom>
        </p:spPr>
      </p:pic>
      <p:sp>
        <p:nvSpPr>
          <p:cNvPr id="5" name="Content Placeholder 4">
            <a:extLst>
              <a:ext uri="{FF2B5EF4-FFF2-40B4-BE49-F238E27FC236}">
                <a16:creationId xmlns:a16="http://schemas.microsoft.com/office/drawing/2014/main" id="{F7D207A7-925F-1463-5A59-CBD8689E60F3}"/>
              </a:ext>
            </a:extLst>
          </p:cNvPr>
          <p:cNvSpPr>
            <a:spLocks noGrp="1"/>
          </p:cNvSpPr>
          <p:nvPr>
            <p:ph idx="1"/>
          </p:nvPr>
        </p:nvSpPr>
        <p:spPr/>
        <p:txBody>
          <a:bodyPr/>
          <a:lstStyle/>
          <a:p>
            <a:endParaRPr lang="en-IN"/>
          </a:p>
        </p:txBody>
      </p:sp>
      <p:graphicFrame>
        <p:nvGraphicFramePr>
          <p:cNvPr id="6" name="Content Placeholder 3">
            <a:extLst>
              <a:ext uri="{FF2B5EF4-FFF2-40B4-BE49-F238E27FC236}">
                <a16:creationId xmlns:a16="http://schemas.microsoft.com/office/drawing/2014/main" id="{1C7BA836-5D25-2AD9-8B47-4472FF49D7A2}"/>
              </a:ext>
            </a:extLst>
          </p:cNvPr>
          <p:cNvGraphicFramePr>
            <a:graphicFrameLocks/>
          </p:cNvGraphicFramePr>
          <p:nvPr>
            <p:extLst>
              <p:ext uri="{D42A27DB-BD31-4B8C-83A1-F6EECF244321}">
                <p14:modId xmlns:p14="http://schemas.microsoft.com/office/powerpoint/2010/main" val="4187615879"/>
              </p:ext>
            </p:extLst>
          </p:nvPr>
        </p:nvGraphicFramePr>
        <p:xfrm>
          <a:off x="152400" y="880596"/>
          <a:ext cx="8839200" cy="5928360"/>
        </p:xfrm>
        <a:graphic>
          <a:graphicData uri="http://schemas.openxmlformats.org/drawingml/2006/table">
            <a:tbl>
              <a:tblPr firstRow="1" bandRow="1">
                <a:tableStyleId>{5C22544A-7EE6-4342-B048-85BDC9FD1C3A}</a:tableStyleId>
              </a:tblPr>
              <a:tblGrid>
                <a:gridCol w="900289">
                  <a:extLst>
                    <a:ext uri="{9D8B030D-6E8A-4147-A177-3AD203B41FA5}">
                      <a16:colId xmlns:a16="http://schemas.microsoft.com/office/drawing/2014/main" val="20000"/>
                    </a:ext>
                  </a:extLst>
                </a:gridCol>
                <a:gridCol w="1718734">
                  <a:extLst>
                    <a:ext uri="{9D8B030D-6E8A-4147-A177-3AD203B41FA5}">
                      <a16:colId xmlns:a16="http://schemas.microsoft.com/office/drawing/2014/main" val="20001"/>
                    </a:ext>
                  </a:extLst>
                </a:gridCol>
                <a:gridCol w="1555044">
                  <a:extLst>
                    <a:ext uri="{9D8B030D-6E8A-4147-A177-3AD203B41FA5}">
                      <a16:colId xmlns:a16="http://schemas.microsoft.com/office/drawing/2014/main" val="20002"/>
                    </a:ext>
                  </a:extLst>
                </a:gridCol>
                <a:gridCol w="2291644">
                  <a:extLst>
                    <a:ext uri="{9D8B030D-6E8A-4147-A177-3AD203B41FA5}">
                      <a16:colId xmlns:a16="http://schemas.microsoft.com/office/drawing/2014/main" val="20003"/>
                    </a:ext>
                  </a:extLst>
                </a:gridCol>
                <a:gridCol w="2373489">
                  <a:extLst>
                    <a:ext uri="{9D8B030D-6E8A-4147-A177-3AD203B41FA5}">
                      <a16:colId xmlns:a16="http://schemas.microsoft.com/office/drawing/2014/main" val="20004"/>
                    </a:ext>
                  </a:extLst>
                </a:gridCol>
              </a:tblGrid>
              <a:tr h="1112520">
                <a:tc>
                  <a:txBody>
                    <a:bodyPr/>
                    <a:lstStyle/>
                    <a:p>
                      <a:pPr algn="ctr"/>
                      <a:endParaRPr lang="en-IN" sz="1600" b="1" kern="1200" dirty="0">
                        <a:solidFill>
                          <a:schemeClr val="lt1"/>
                        </a:solidFill>
                        <a:effectLst/>
                        <a:latin typeface="Times New Roman" panose="02020603050405020304" pitchFamily="18" charset="0"/>
                        <a:ea typeface="+mn-ea"/>
                        <a:cs typeface="Times New Roman" panose="02020603050405020304" pitchFamily="18" charset="0"/>
                      </a:endParaRPr>
                    </a:p>
                    <a:p>
                      <a:pPr algn="ctr"/>
                      <a:r>
                        <a:rPr lang="en-IN" sz="1600" b="1" kern="1200" dirty="0" err="1">
                          <a:solidFill>
                            <a:schemeClr val="lt1"/>
                          </a:solidFill>
                          <a:effectLst/>
                          <a:latin typeface="Times New Roman" panose="02020603050405020304" pitchFamily="18" charset="0"/>
                          <a:ea typeface="+mn-ea"/>
                          <a:cs typeface="Times New Roman" panose="02020603050405020304" pitchFamily="18" charset="0"/>
                        </a:rPr>
                        <a:t>S.No</a:t>
                      </a:r>
                      <a:endParaRPr lang="en-GB" sz="1600" dirty="0">
                        <a:latin typeface="Times New Roman" pitchFamily="18" charset="0"/>
                        <a:cs typeface="Times New Roman"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effectLst/>
                          <a:latin typeface="Times New Roman" panose="02020603050405020304" pitchFamily="18" charset="0"/>
                          <a:ea typeface="Calibri" panose="020F0502020204030204" pitchFamily="34" charset="0"/>
                          <a:cs typeface="Times New Roman" panose="02020603050405020304" pitchFamily="18" charset="0"/>
                        </a:rPr>
                        <a:t>Authors</a:t>
                      </a:r>
                      <a:r>
                        <a:rPr lang="en-IN" sz="1600" b="1" baseline="0" dirty="0">
                          <a:effectLst/>
                          <a:latin typeface="Times New Roman" panose="02020603050405020304" pitchFamily="18" charset="0"/>
                          <a:ea typeface="Calibri" panose="020F0502020204030204" pitchFamily="34" charset="0"/>
                          <a:cs typeface="Times New Roman" panose="02020603050405020304" pitchFamily="18" charset="0"/>
                        </a:rPr>
                        <a:t> &amp; Year of  Publication</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algn="ctr"/>
                      <a:endParaRPr lang="en-US" sz="1600"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Journal</a:t>
                      </a:r>
                      <a:endParaRPr lang="en-GB" sz="1600" dirty="0">
                        <a:latin typeface="Times New Roman" pitchFamily="18" charset="0"/>
                        <a:cs typeface="Times New Roman"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Title of the paper</a:t>
                      </a:r>
                    </a:p>
                    <a:p>
                      <a:pPr algn="ctr"/>
                      <a:endParaRPr lang="en-US" sz="16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FFFF"/>
                          </a:solidFill>
                          <a:latin typeface="Times New Roman" pitchFamily="18" charset="0"/>
                          <a:cs typeface="Times New Roman" pitchFamily="18" charset="0"/>
                        </a:rPr>
                        <a:t>Advantages &amp;</a:t>
                      </a:r>
                      <a:r>
                        <a:rPr lang="en-US" sz="1600" b="1" spc="-55" dirty="0">
                          <a:solidFill>
                            <a:srgbClr val="FFFFFF"/>
                          </a:solidFill>
                          <a:latin typeface="Times New Roman" pitchFamily="18" charset="0"/>
                          <a:cs typeface="Times New Roman" pitchFamily="18" charset="0"/>
                        </a:rPr>
                        <a:t> </a:t>
                      </a:r>
                      <a:r>
                        <a:rPr lang="en-US" sz="1600" b="1" spc="-10" dirty="0">
                          <a:solidFill>
                            <a:srgbClr val="FFFFFF"/>
                          </a:solidFill>
                          <a:latin typeface="Times New Roman" pitchFamily="18" charset="0"/>
                          <a:cs typeface="Times New Roman" pitchFamily="18" charset="0"/>
                        </a:rPr>
                        <a:t>Limitations</a:t>
                      </a:r>
                      <a:endParaRPr lang="en-US" sz="1600" dirty="0">
                        <a:latin typeface="Times New Roman" pitchFamily="18" charset="0"/>
                        <a:cs typeface="Times New Roman" pitchFamily="18" charset="0"/>
                      </a:endParaRPr>
                    </a:p>
                    <a:p>
                      <a:pPr algn="ctr"/>
                      <a:endParaRPr lang="en-GB" sz="1600"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1021080">
                <a:tc>
                  <a:txBody>
                    <a:bodyPr/>
                    <a:lstStyle/>
                    <a:p>
                      <a:pPr>
                        <a:buNone/>
                      </a:pPr>
                      <a:r>
                        <a:rPr lang="en-IN" sz="1600" b="1"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anchor="ctr"/>
                </a:tc>
                <a:tc>
                  <a:txBody>
                    <a:bodyPr/>
                    <a:lstStyle/>
                    <a:p>
                      <a:r>
                        <a:rPr lang="en-IN" sz="1400" b="1" dirty="0"/>
                        <a:t>Mujeeb Rahman K </a:t>
                      </a:r>
                      <a:r>
                        <a:rPr lang="en-IN" sz="1400" b="1" dirty="0" err="1"/>
                        <a:t>K</a:t>
                      </a:r>
                      <a:endParaRPr lang="en-IN" sz="1400" dirty="0"/>
                    </a:p>
                    <a:p>
                      <a:r>
                        <a:rPr lang="en-IN" sz="1400" b="1" dirty="0"/>
                        <a:t>Mohamed </a:t>
                      </a:r>
                      <a:r>
                        <a:rPr lang="en-IN" sz="1400" b="1" dirty="0" err="1"/>
                        <a:t>Nasor</a:t>
                      </a:r>
                      <a:r>
                        <a:rPr lang="en-IN" sz="1400" b="1" dirty="0"/>
                        <a:t> M</a:t>
                      </a:r>
                      <a:endParaRPr lang="en-IN" sz="1400" dirty="0"/>
                    </a:p>
                    <a:p>
                      <a:r>
                        <a:rPr lang="en-IN" sz="1400" b="1" dirty="0"/>
                        <a:t>Rayan Zidan</a:t>
                      </a:r>
                      <a:endParaRPr lang="en-IN" sz="1400" dirty="0"/>
                    </a:p>
                    <a:p>
                      <a:r>
                        <a:rPr lang="en-IN" sz="1400" b="1" dirty="0"/>
                        <a:t>Ibrahim </a:t>
                      </a:r>
                      <a:r>
                        <a:rPr lang="en-IN" sz="1400" b="1" dirty="0" err="1"/>
                        <a:t>Alsarraj</a:t>
                      </a:r>
                      <a:endParaRPr lang="en-IN" sz="1400" dirty="0"/>
                    </a:p>
                    <a:p>
                      <a:r>
                        <a:rPr lang="en-IN" sz="1400" b="1" dirty="0"/>
                        <a:t>Besher Hasan</a:t>
                      </a:r>
                      <a:endParaRPr lang="en-IN" sz="1400" dirty="0"/>
                    </a:p>
                  </a:txBody>
                  <a:tcPr anchor="ctr"/>
                </a:tc>
                <a:tc>
                  <a:txBody>
                    <a:bodyPr/>
                    <a:lstStyle/>
                    <a:p>
                      <a:pPr>
                        <a:buNone/>
                      </a:pPr>
                      <a:r>
                        <a:rPr lang="en-US" sz="1600" i="1">
                          <a:latin typeface="Times New Roman" panose="02020603050405020304" pitchFamily="18" charset="0"/>
                          <a:cs typeface="Times New Roman" panose="02020603050405020304" pitchFamily="18" charset="0"/>
                        </a:rPr>
                        <a:t>International Journal of Engineering Research &amp; Technology</a:t>
                      </a:r>
                      <a:endParaRPr lang="en-US" sz="1600">
                        <a:latin typeface="Times New Roman" panose="02020603050405020304" pitchFamily="18" charset="0"/>
                        <a:cs typeface="Times New Roman" panose="02020603050405020304" pitchFamily="18" charset="0"/>
                      </a:endParaRPr>
                    </a:p>
                  </a:txBody>
                  <a:tcPr anchor="ctr"/>
                </a:tc>
                <a:tc>
                  <a:txBody>
                    <a:bodyPr/>
                    <a:lstStyle/>
                    <a:p>
                      <a:pPr>
                        <a:buNone/>
                      </a:pPr>
                      <a:r>
                        <a:rPr lang="en-US" sz="1600" b="1">
                          <a:latin typeface="Times New Roman" panose="02020603050405020304" pitchFamily="18" charset="0"/>
                          <a:cs typeface="Times New Roman" panose="02020603050405020304" pitchFamily="18" charset="0"/>
                        </a:rPr>
                        <a:t>IoT-based wireless patient monitoring system using ESP32 &amp; Firebase</a:t>
                      </a:r>
                      <a:endParaRPr lang="en-US" sz="1600">
                        <a:latin typeface="Times New Roman" panose="02020603050405020304" pitchFamily="18" charset="0"/>
                        <a:cs typeface="Times New Roman" panose="02020603050405020304" pitchFamily="18" charset="0"/>
                      </a:endParaRP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Uses the </a:t>
                      </a:r>
                      <a:r>
                        <a:rPr lang="en-US" sz="1600" b="1" dirty="0">
                          <a:latin typeface="Times New Roman" panose="02020603050405020304" pitchFamily="18" charset="0"/>
                          <a:cs typeface="Times New Roman" panose="02020603050405020304" pitchFamily="18" charset="0"/>
                        </a:rPr>
                        <a:t>ESP32</a:t>
                      </a:r>
                      <a:r>
                        <a:rPr lang="en-US" sz="1600" dirty="0">
                          <a:latin typeface="Times New Roman" panose="02020603050405020304" pitchFamily="18" charset="0"/>
                          <a:cs typeface="Times New Roman" panose="02020603050405020304" pitchFamily="18" charset="0"/>
                        </a:rPr>
                        <a:t> microcontroller and </a:t>
                      </a:r>
                      <a:r>
                        <a:rPr lang="en-US" sz="1600" b="1" dirty="0">
                          <a:latin typeface="Times New Roman" panose="02020603050405020304" pitchFamily="18" charset="0"/>
                          <a:cs typeface="Times New Roman" panose="02020603050405020304" pitchFamily="18" charset="0"/>
                        </a:rPr>
                        <a:t>Firebase</a:t>
                      </a:r>
                      <a:r>
                        <a:rPr lang="en-US" sz="1600" dirty="0">
                          <a:latin typeface="Times New Roman" panose="02020603050405020304" pitchFamily="18" charset="0"/>
                          <a:cs typeface="Times New Roman" panose="02020603050405020304" pitchFamily="18" charset="0"/>
                        </a:rPr>
                        <a:t> for remote access via a web/app. Focuses on improving accessibility and monitoring patients remotely, especially in rural areas.</a:t>
                      </a:r>
                    </a:p>
                  </a:txBody>
                  <a:tcPr anchor="ctr"/>
                </a:tc>
                <a:extLst>
                  <a:ext uri="{0D108BD9-81ED-4DB2-BD59-A6C34878D82A}">
                    <a16:rowId xmlns:a16="http://schemas.microsoft.com/office/drawing/2014/main" val="10001"/>
                  </a:ext>
                </a:extLst>
              </a:tr>
              <a:tr h="1463041">
                <a:tc>
                  <a:txBody>
                    <a:bodyPr/>
                    <a:lstStyle/>
                    <a:p>
                      <a:pPr>
                        <a:buNone/>
                      </a:pPr>
                      <a:r>
                        <a:rPr lang="en-IN" sz="1600" b="1" dirty="0">
                          <a:latin typeface="Times New Roman" panose="02020603050405020304" pitchFamily="18" charset="0"/>
                          <a:cs typeface="Times New Roman" panose="02020603050405020304" pitchFamily="18" charset="0"/>
                        </a:rPr>
                        <a:t>5.</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600" b="1" dirty="0">
                          <a:latin typeface="Times New Roman" panose="02020603050405020304" pitchFamily="18" charset="0"/>
                          <a:cs typeface="Times New Roman" panose="02020603050405020304" pitchFamily="18" charset="0"/>
                        </a:rPr>
                        <a:t>S. K. Swarnkar, Y. K. Rathore (2024)</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600" i="1" dirty="0">
                          <a:latin typeface="Times New Roman" panose="02020603050405020304" pitchFamily="18" charset="0"/>
                          <a:cs typeface="Times New Roman" panose="02020603050405020304" pitchFamily="18" charset="0"/>
                        </a:rPr>
                        <a:t>International Journal of Creative Research Thoughts</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600" b="1" dirty="0">
                          <a:latin typeface="Times New Roman" panose="02020603050405020304" pitchFamily="18" charset="0"/>
                          <a:cs typeface="Times New Roman" panose="02020603050405020304" pitchFamily="18" charset="0"/>
                        </a:rPr>
                        <a:t>IoT Based Vital Track and Fluid Monitoring</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Integrates simultaneous monitoring of </a:t>
                      </a:r>
                      <a:r>
                        <a:rPr lang="en-US" sz="1600" b="1" dirty="0">
                          <a:latin typeface="Times New Roman" panose="02020603050405020304" pitchFamily="18" charset="0"/>
                          <a:cs typeface="Times New Roman" panose="02020603050405020304" pitchFamily="18" charset="0"/>
                        </a:rPr>
                        <a:t>IV fluid levels</a:t>
                      </a:r>
                      <a:r>
                        <a:rPr lang="en-US" sz="1600" dirty="0">
                          <a:latin typeface="Times New Roman" panose="02020603050405020304" pitchFamily="18" charset="0"/>
                          <a:cs typeface="Times New Roman" panose="02020603050405020304" pitchFamily="18" charset="0"/>
                        </a:rPr>
                        <a:t> (using load cell sensor), SpO_2, heart rate, and temperature.  effectiveness in reducing manual workload and minimizing human error in complex monitoring tasks</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288263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39762"/>
          </a:xfrm>
        </p:spPr>
        <p:txBody>
          <a:bodyPr>
            <a:normAutofit fontScale="90000"/>
          </a:bodyPr>
          <a:lstStyle/>
          <a:p>
            <a:r>
              <a:rPr lang="en-US" sz="4900" b="1" dirty="0">
                <a:latin typeface="Times New Roman" panose="02020603050405020304" pitchFamily="18" charset="0"/>
                <a:cs typeface="Times New Roman" panose="02020603050405020304" pitchFamily="18" charset="0"/>
              </a:rPr>
              <a:t>EXISTING</a:t>
            </a:r>
            <a:r>
              <a:rPr lang="en-US" b="1" dirty="0"/>
              <a:t> </a:t>
            </a:r>
            <a:r>
              <a:rPr lang="en-US" sz="4900" b="1" dirty="0">
                <a:latin typeface="Times New Roman" panose="02020603050405020304" pitchFamily="18" charset="0"/>
                <a:cs typeface="Times New Roman" panose="02020603050405020304" pitchFamily="18" charset="0"/>
              </a:rPr>
              <a:t>SYSTEM</a:t>
            </a:r>
            <a:endParaRPr lang="en-IN" sz="49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096962"/>
            <a:ext cx="8229600" cy="5059363"/>
          </a:xfrm>
        </p:spPr>
        <p:txBody>
          <a:bodyPr>
            <a:noAutofit/>
          </a:bodyPr>
          <a:lstStyle/>
          <a:p>
            <a:pPr>
              <a:lnSpc>
                <a:spcPct val="150000"/>
              </a:lnSpc>
            </a:pPr>
            <a:r>
              <a:rPr lang="en-US" sz="1800" dirty="0">
                <a:latin typeface="Times New Roman" panose="02020603050405020304" pitchFamily="18" charset="0"/>
                <a:cs typeface="Times New Roman" panose="02020603050405020304" pitchFamily="18" charset="0"/>
              </a:rPr>
              <a:t>In the current healthcare setups, </a:t>
            </a:r>
            <a:r>
              <a:rPr lang="en-US" sz="1800" b="1" dirty="0">
                <a:latin typeface="Times New Roman" panose="02020603050405020304" pitchFamily="18" charset="0"/>
                <a:cs typeface="Times New Roman" panose="02020603050405020304" pitchFamily="18" charset="0"/>
              </a:rPr>
              <a:t>patient health monitoring</a:t>
            </a:r>
            <a:r>
              <a:rPr lang="en-US" sz="1800" dirty="0">
                <a:latin typeface="Times New Roman" panose="02020603050405020304" pitchFamily="18" charset="0"/>
                <a:cs typeface="Times New Roman" panose="02020603050405020304" pitchFamily="18" charset="0"/>
              </a:rPr>
              <a:t> is often done </a:t>
            </a:r>
            <a:r>
              <a:rPr lang="en-US" sz="1800" b="1" dirty="0">
                <a:latin typeface="Times New Roman" panose="02020603050405020304" pitchFamily="18" charset="0"/>
                <a:cs typeface="Times New Roman" panose="02020603050405020304" pitchFamily="18" charset="0"/>
              </a:rPr>
              <a:t>manually</a:t>
            </a:r>
            <a:r>
              <a:rPr lang="en-US" sz="1800" dirty="0">
                <a:latin typeface="Times New Roman" panose="02020603050405020304" pitchFamily="18" charset="0"/>
                <a:cs typeface="Times New Roman" panose="02020603050405020304" pitchFamily="18" charset="0"/>
              </a:rPr>
              <a:t> by nurses or healthcare staff.</a:t>
            </a:r>
          </a:p>
          <a:p>
            <a:pPr>
              <a:lnSpc>
                <a:spcPct val="150000"/>
              </a:lnSpc>
            </a:pPr>
            <a:r>
              <a:rPr lang="en-US" sz="1800" dirty="0">
                <a:latin typeface="Times New Roman" panose="02020603050405020304" pitchFamily="18" charset="0"/>
                <a:cs typeface="Times New Roman" panose="02020603050405020304" pitchFamily="18" charset="0"/>
              </a:rPr>
              <a:t>Vital signs such as </a:t>
            </a:r>
            <a:r>
              <a:rPr lang="en-US" sz="1800" b="1" dirty="0">
                <a:latin typeface="Times New Roman" panose="02020603050405020304" pitchFamily="18" charset="0"/>
                <a:cs typeface="Times New Roman" panose="02020603050405020304" pitchFamily="18" charset="0"/>
              </a:rPr>
              <a:t>heart rate, blood pressure, temperature, and IV fluid levels</a:t>
            </a:r>
            <a:r>
              <a:rPr lang="en-US" sz="1800" dirty="0">
                <a:latin typeface="Times New Roman" panose="02020603050405020304" pitchFamily="18" charset="0"/>
                <a:cs typeface="Times New Roman" panose="02020603050405020304" pitchFamily="18" charset="0"/>
              </a:rPr>
              <a:t> are checked </a:t>
            </a:r>
            <a:r>
              <a:rPr lang="en-US" sz="1800" b="1" dirty="0">
                <a:latin typeface="Times New Roman" panose="02020603050405020304" pitchFamily="18" charset="0"/>
                <a:cs typeface="Times New Roman" panose="02020603050405020304" pitchFamily="18" charset="0"/>
              </a:rPr>
              <a:t>periodically</a:t>
            </a:r>
            <a:r>
              <a:rPr lang="en-US" sz="1800" dirty="0">
                <a:latin typeface="Times New Roman" panose="02020603050405020304" pitchFamily="18" charset="0"/>
                <a:cs typeface="Times New Roman" panose="02020603050405020304" pitchFamily="18" charset="0"/>
              </a:rPr>
              <a:t>, not continuously.</a:t>
            </a:r>
          </a:p>
          <a:p>
            <a:pPr>
              <a:lnSpc>
                <a:spcPct val="150000"/>
              </a:lnSpc>
            </a:pPr>
            <a:r>
              <a:rPr lang="en-US" sz="1800" dirty="0">
                <a:latin typeface="Times New Roman" panose="02020603050405020304" pitchFamily="18" charset="0"/>
                <a:cs typeface="Times New Roman" panose="02020603050405020304" pitchFamily="18" charset="0"/>
              </a:rPr>
              <a:t>Alerts for critical conditions rely on </a:t>
            </a:r>
            <a:r>
              <a:rPr lang="en-US" sz="1800" b="1" dirty="0">
                <a:latin typeface="Times New Roman" panose="02020603050405020304" pitchFamily="18" charset="0"/>
                <a:cs typeface="Times New Roman" panose="02020603050405020304" pitchFamily="18" charset="0"/>
              </a:rPr>
              <a:t>human observation</a:t>
            </a:r>
            <a:r>
              <a:rPr lang="en-US" sz="1800" dirty="0">
                <a:latin typeface="Times New Roman" panose="02020603050405020304" pitchFamily="18" charset="0"/>
                <a:cs typeface="Times New Roman" panose="02020603050405020304" pitchFamily="18" charset="0"/>
              </a:rPr>
              <a:t> instead of automated systems.</a:t>
            </a:r>
          </a:p>
          <a:p>
            <a:pPr>
              <a:lnSpc>
                <a:spcPct val="150000"/>
              </a:lnSpc>
            </a:pPr>
            <a:r>
              <a:rPr lang="en-US" sz="1800" dirty="0">
                <a:latin typeface="Times New Roman" panose="02020603050405020304" pitchFamily="18" charset="0"/>
                <a:cs typeface="Times New Roman" panose="02020603050405020304" pitchFamily="18" charset="0"/>
              </a:rPr>
              <a:t>Some </a:t>
            </a:r>
            <a:r>
              <a:rPr lang="en-US" sz="1800" b="1" dirty="0">
                <a:latin typeface="Times New Roman" panose="02020603050405020304" pitchFamily="18" charset="0"/>
                <a:cs typeface="Times New Roman" panose="02020603050405020304" pitchFamily="18" charset="0"/>
              </a:rPr>
              <a:t>basic monitoring devices</a:t>
            </a:r>
            <a:r>
              <a:rPr lang="en-US" sz="1800" dirty="0">
                <a:latin typeface="Times New Roman" panose="02020603050405020304" pitchFamily="18" charset="0"/>
                <a:cs typeface="Times New Roman" panose="02020603050405020304" pitchFamily="18" charset="0"/>
              </a:rPr>
              <a:t> exist but are </a:t>
            </a:r>
            <a:r>
              <a:rPr lang="en-US" sz="1800" b="1" dirty="0">
                <a:latin typeface="Times New Roman" panose="02020603050405020304" pitchFamily="18" charset="0"/>
                <a:cs typeface="Times New Roman" panose="02020603050405020304" pitchFamily="18" charset="0"/>
              </a:rPr>
              <a:t>standalone systems</a:t>
            </a:r>
            <a:r>
              <a:rPr lang="en-US" sz="1800" dirty="0">
                <a:latin typeface="Times New Roman" panose="02020603050405020304" pitchFamily="18" charset="0"/>
                <a:cs typeface="Times New Roman" panose="02020603050405020304" pitchFamily="18" charset="0"/>
              </a:rPr>
              <a:t> without real-time </a:t>
            </a:r>
            <a:r>
              <a:rPr lang="en-US" sz="1800" b="1" dirty="0">
                <a:latin typeface="Times New Roman" panose="02020603050405020304" pitchFamily="18" charset="0"/>
                <a:cs typeface="Times New Roman" panose="02020603050405020304" pitchFamily="18" charset="0"/>
              </a:rPr>
              <a:t>mobile app notifications</a:t>
            </a:r>
            <a:r>
              <a:rPr lang="en-US" sz="1800" dirty="0">
                <a:latin typeface="Times New Roman" panose="02020603050405020304" pitchFamily="18" charset="0"/>
                <a:cs typeface="Times New Roman" panose="02020603050405020304" pitchFamily="18" charset="0"/>
              </a:rPr>
              <a:t> or </a:t>
            </a:r>
            <a:r>
              <a:rPr lang="en-US" sz="1800" b="1" dirty="0">
                <a:latin typeface="Times New Roman" panose="02020603050405020304" pitchFamily="18" charset="0"/>
                <a:cs typeface="Times New Roman" panose="02020603050405020304" pitchFamily="18" charset="0"/>
              </a:rPr>
              <a:t>cloud data storage</a:t>
            </a:r>
            <a:r>
              <a:rPr lang="en-US" sz="1800" dirty="0">
                <a:latin typeface="Times New Roman" panose="02020603050405020304" pitchFamily="18" charset="0"/>
                <a:cs typeface="Times New Roman" panose="02020603050405020304" pitchFamily="18" charset="0"/>
              </a:rPr>
              <a:t>.</a:t>
            </a:r>
          </a:p>
          <a:p>
            <a:pPr>
              <a:lnSpc>
                <a:spcPct val="150000"/>
              </a:lnSpc>
            </a:pPr>
            <a:r>
              <a:rPr lang="en-US" sz="1800" dirty="0">
                <a:latin typeface="Times New Roman" panose="02020603050405020304" pitchFamily="18" charset="0"/>
                <a:cs typeface="Times New Roman" panose="02020603050405020304" pitchFamily="18" charset="0"/>
              </a:rPr>
              <a:t>Lack of </a:t>
            </a:r>
            <a:r>
              <a:rPr lang="en-US" sz="1800" b="1" dirty="0">
                <a:latin typeface="Times New Roman" panose="02020603050405020304" pitchFamily="18" charset="0"/>
                <a:cs typeface="Times New Roman" panose="02020603050405020304" pitchFamily="18" charset="0"/>
              </a:rPr>
              <a:t>integration</a:t>
            </a:r>
            <a:r>
              <a:rPr lang="en-US" sz="1800" dirty="0">
                <a:latin typeface="Times New Roman" panose="02020603050405020304" pitchFamily="18" charset="0"/>
                <a:cs typeface="Times New Roman" panose="02020603050405020304" pitchFamily="18" charset="0"/>
              </a:rPr>
              <a:t> with IoT and </a:t>
            </a:r>
            <a:r>
              <a:rPr lang="en-US" sz="1800" b="1" dirty="0">
                <a:latin typeface="Times New Roman" panose="02020603050405020304" pitchFamily="18" charset="0"/>
                <a:cs typeface="Times New Roman" panose="02020603050405020304" pitchFamily="18" charset="0"/>
              </a:rPr>
              <a:t>remote access</a:t>
            </a:r>
            <a:r>
              <a:rPr lang="en-US" sz="1800" dirty="0">
                <a:latin typeface="Times New Roman" panose="02020603050405020304" pitchFamily="18" charset="0"/>
                <a:cs typeface="Times New Roman" panose="02020603050405020304" pitchFamily="18" charset="0"/>
              </a:rPr>
              <a:t> limits the efficiency of existing solutions.</a:t>
            </a:r>
          </a:p>
        </p:txBody>
      </p:sp>
      <p:pic>
        <p:nvPicPr>
          <p:cNvPr id="4" name="object 5">
            <a:extLst>
              <a:ext uri="{FF2B5EF4-FFF2-40B4-BE49-F238E27FC236}">
                <a16:creationId xmlns:a16="http://schemas.microsoft.com/office/drawing/2014/main" id="{F2696313-FB4F-AAD9-3E1B-A2B94647B46A}"/>
              </a:ext>
            </a:extLst>
          </p:cNvPr>
          <p:cNvPicPr/>
          <p:nvPr/>
        </p:nvPicPr>
        <p:blipFill>
          <a:blip r:embed="rId2" cstate="print"/>
          <a:stretch>
            <a:fillRect/>
          </a:stretch>
        </p:blipFill>
        <p:spPr>
          <a:xfrm>
            <a:off x="338665" y="221764"/>
            <a:ext cx="778183" cy="875198"/>
          </a:xfrm>
          <a:prstGeom prst="rect">
            <a:avLst/>
          </a:prstGeom>
        </p:spPr>
      </p:pic>
    </p:spTree>
    <p:extLst>
      <p:ext uri="{BB962C8B-B14F-4D97-AF65-F5344CB8AC3E}">
        <p14:creationId xmlns:p14="http://schemas.microsoft.com/office/powerpoint/2010/main" val="6624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Autofit/>
          </a:bodyPr>
          <a:lstStyle/>
          <a:p>
            <a:r>
              <a:rPr lang="en-US" b="1" dirty="0">
                <a:latin typeface="Times New Roman" panose="02020603050405020304" pitchFamily="18" charset="0"/>
                <a:cs typeface="Times New Roman" panose="02020603050405020304" pitchFamily="18" charset="0"/>
              </a:rPr>
              <a:t>DISADVANTAGES</a:t>
            </a:r>
            <a:endParaRPr lang="en-IN" b="1" dirty="0">
              <a:latin typeface="Times New Roman" panose="02020603050405020304" pitchFamily="18" charset="0"/>
              <a:cs typeface="Times New Roman" panose="02020603050405020304" pitchFamily="18" charset="0"/>
            </a:endParaRPr>
          </a:p>
        </p:txBody>
      </p:sp>
      <p:pic>
        <p:nvPicPr>
          <p:cNvPr id="4" name="object 5">
            <a:extLst>
              <a:ext uri="{FF2B5EF4-FFF2-40B4-BE49-F238E27FC236}">
                <a16:creationId xmlns:a16="http://schemas.microsoft.com/office/drawing/2014/main" id="{0E363BF3-41E6-47E5-D81C-834E599FA2E3}"/>
              </a:ext>
            </a:extLst>
          </p:cNvPr>
          <p:cNvPicPr/>
          <p:nvPr/>
        </p:nvPicPr>
        <p:blipFill>
          <a:blip r:embed="rId2" cstate="print"/>
          <a:stretch>
            <a:fillRect/>
          </a:stretch>
        </p:blipFill>
        <p:spPr>
          <a:xfrm>
            <a:off x="338665" y="221764"/>
            <a:ext cx="778183" cy="692636"/>
          </a:xfrm>
          <a:prstGeom prst="rect">
            <a:avLst/>
          </a:prstGeom>
        </p:spPr>
      </p:pic>
      <p:sp>
        <p:nvSpPr>
          <p:cNvPr id="6" name="Rectangle 2">
            <a:extLst>
              <a:ext uri="{FF2B5EF4-FFF2-40B4-BE49-F238E27FC236}">
                <a16:creationId xmlns:a16="http://schemas.microsoft.com/office/drawing/2014/main" id="{5ABC5D52-0A81-B587-D2CE-D7CE9A8469A5}"/>
              </a:ext>
            </a:extLst>
          </p:cNvPr>
          <p:cNvSpPr>
            <a:spLocks noGrp="1" noChangeArrowheads="1"/>
          </p:cNvSpPr>
          <p:nvPr>
            <p:ph idx="1"/>
          </p:nvPr>
        </p:nvSpPr>
        <p:spPr bwMode="auto">
          <a:xfrm>
            <a:off x="571500" y="1295400"/>
            <a:ext cx="8001000" cy="4438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Standalone Devices</a:t>
            </a:r>
            <a:r>
              <a:rPr kumimoji="0" lang="en-US" altLang="en-US" sz="1800" b="0" i="0" u="none" strike="noStrike" cap="none" normalizeH="0" baseline="0" dirty="0">
                <a:ln>
                  <a:noFill/>
                </a:ln>
                <a:solidFill>
                  <a:schemeClr val="tx1"/>
                </a:solidFill>
                <a:effectLst/>
                <a:latin typeface="Arial" panose="020B0604020202020204" pitchFamily="34" charset="0"/>
              </a:rPr>
              <a:t>, working individually with </a:t>
            </a:r>
            <a:r>
              <a:rPr kumimoji="0" lang="en-US" altLang="en-US" sz="1800" b="1" i="0" u="none" strike="noStrike" cap="none" normalizeH="0" baseline="0" dirty="0">
                <a:ln>
                  <a:noFill/>
                </a:ln>
                <a:solidFill>
                  <a:schemeClr val="tx1"/>
                </a:solidFill>
                <a:effectLst/>
                <a:latin typeface="Arial" panose="020B0604020202020204" pitchFamily="34" charset="0"/>
              </a:rPr>
              <a:t>no integrated system</a:t>
            </a:r>
            <a:r>
              <a:rPr kumimoji="0" lang="en-US" altLang="en-US" sz="1800" b="0" i="0" u="none" strike="noStrike" cap="none" normalizeH="0" baseline="0" dirty="0">
                <a:ln>
                  <a:noFill/>
                </a:ln>
                <a:solidFill>
                  <a:schemeClr val="tx1"/>
                </a:solidFill>
                <a:effectLst/>
                <a:latin typeface="Arial" panose="020B0604020202020204" pitchFamily="34" charset="0"/>
              </a:rPr>
              <a:t> for               multiple health parameters.</a:t>
            </a:r>
          </a:p>
          <a:p>
            <a:pPr marR="0" lvl="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Human Error</a:t>
            </a:r>
            <a:r>
              <a:rPr kumimoji="0" lang="en-US" altLang="en-US" sz="1800" b="0" i="0" u="none" strike="noStrike" cap="none" normalizeH="0" baseline="0" dirty="0">
                <a:ln>
                  <a:noFill/>
                </a:ln>
                <a:solidFill>
                  <a:schemeClr val="tx1"/>
                </a:solidFill>
                <a:effectLst/>
                <a:latin typeface="Arial" panose="020B0604020202020204" pitchFamily="34" charset="0"/>
              </a:rPr>
              <a:t> is a risk because manual observation may lead to mistakes, missed alerts, or delayed responses.</a:t>
            </a:r>
          </a:p>
          <a:p>
            <a:pPr marR="0" lvl="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Limited Automation</a:t>
            </a:r>
            <a:r>
              <a:rPr kumimoji="0" lang="en-US" altLang="en-US" sz="1800" b="0" i="0" u="none" strike="noStrike" cap="none" normalizeH="0" baseline="0" dirty="0">
                <a:ln>
                  <a:noFill/>
                </a:ln>
                <a:solidFill>
                  <a:schemeClr val="tx1"/>
                </a:solidFill>
                <a:effectLst/>
                <a:latin typeface="Arial" panose="020B0604020202020204" pitchFamily="34" charset="0"/>
              </a:rPr>
              <a:t>, meaning there are no automatic voice or SMS alerts for critical health conditions.</a:t>
            </a:r>
          </a:p>
          <a:p>
            <a:pPr marR="0" lvl="0" algn="just" defTabSz="914400" rtl="0" eaLnBrk="0" fontAlgn="base" latinLnBrk="0" hangingPunct="0">
              <a:lnSpc>
                <a:spcPct val="2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Manual Monitoring</a:t>
            </a:r>
            <a:r>
              <a:rPr kumimoji="0" lang="en-US" altLang="en-US" sz="1800" b="0" i="0" u="none" strike="noStrike" cap="none" normalizeH="0" baseline="0" dirty="0">
                <a:ln>
                  <a:noFill/>
                </a:ln>
                <a:solidFill>
                  <a:schemeClr val="tx1"/>
                </a:solidFill>
                <a:effectLst/>
                <a:latin typeface="Arial" panose="020B0604020202020204" pitchFamily="34" charset="0"/>
              </a:rPr>
              <a:t>, requiring nurses or staff to check vitals periodically instead of continuous real-time tracking.</a:t>
            </a:r>
          </a:p>
        </p:txBody>
      </p:sp>
    </p:spTree>
    <p:extLst>
      <p:ext uri="{BB962C8B-B14F-4D97-AF65-F5344CB8AC3E}">
        <p14:creationId xmlns:p14="http://schemas.microsoft.com/office/powerpoint/2010/main" val="533719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Autofit/>
          </a:bodyPr>
          <a:lstStyle/>
          <a:p>
            <a:r>
              <a:rPr lang="en-US" b="1" dirty="0">
                <a:latin typeface="Times New Roman" panose="02020603050405020304" pitchFamily="18" charset="0"/>
                <a:cs typeface="Times New Roman" panose="02020603050405020304" pitchFamily="18" charset="0"/>
              </a:rPr>
              <a:t>       PROPOSED SYSTEM</a:t>
            </a:r>
            <a:endParaRPr lang="en-IN" b="1" dirty="0">
              <a:latin typeface="Times New Roman" panose="02020603050405020304" pitchFamily="18" charset="0"/>
              <a:cs typeface="Times New Roman" panose="02020603050405020304" pitchFamily="18" charset="0"/>
            </a:endParaRPr>
          </a:p>
        </p:txBody>
      </p:sp>
      <p:pic>
        <p:nvPicPr>
          <p:cNvPr id="3" name="object 5">
            <a:extLst>
              <a:ext uri="{FF2B5EF4-FFF2-40B4-BE49-F238E27FC236}">
                <a16:creationId xmlns:a16="http://schemas.microsoft.com/office/drawing/2014/main" id="{3282A747-77FD-4FC9-F541-12D5DFAB8691}"/>
              </a:ext>
            </a:extLst>
          </p:cNvPr>
          <p:cNvPicPr/>
          <p:nvPr/>
        </p:nvPicPr>
        <p:blipFill>
          <a:blip r:embed="rId2" cstate="print"/>
          <a:stretch>
            <a:fillRect/>
          </a:stretch>
        </p:blipFill>
        <p:spPr>
          <a:xfrm>
            <a:off x="372908" y="274638"/>
            <a:ext cx="778183" cy="792162"/>
          </a:xfrm>
          <a:prstGeom prst="rect">
            <a:avLst/>
          </a:prstGeom>
        </p:spPr>
      </p:pic>
      <p:sp>
        <p:nvSpPr>
          <p:cNvPr id="8" name="Rectangle 4">
            <a:extLst>
              <a:ext uri="{FF2B5EF4-FFF2-40B4-BE49-F238E27FC236}">
                <a16:creationId xmlns:a16="http://schemas.microsoft.com/office/drawing/2014/main" id="{54621E97-A157-3959-C295-9EF8655E6D53}"/>
              </a:ext>
            </a:extLst>
          </p:cNvPr>
          <p:cNvSpPr>
            <a:spLocks noChangeArrowheads="1"/>
          </p:cNvSpPr>
          <p:nvPr/>
        </p:nvSpPr>
        <p:spPr bwMode="auto">
          <a:xfrm>
            <a:off x="914400" y="1295400"/>
            <a:ext cx="7923469" cy="4439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Monitoring: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Heart rate, blood pressure, IV fluid level, </a:t>
            </a:r>
          </a:p>
          <a:p>
            <a:pPr marL="0" marR="0" lvl="0" indent="0" algn="just" defTabSz="914400" rtl="0" eaLnBrk="0" fontAlgn="base" latinLnBrk="0" hangingPunct="0">
              <a:lnSpc>
                <a:spcPct val="2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patient presence are monitored using sensors.</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Integration: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 sensor data is processed by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NodeMCU</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2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uploaded to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Firebase Cloud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Alerts: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Alerts via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voice notifications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200000"/>
              </a:lnSpc>
              <a:spcBef>
                <a:spcPct val="0"/>
              </a:spcBef>
              <a:spcAft>
                <a:spcPct val="0"/>
              </a:spcAft>
              <a:buClrTx/>
              <a:buSzTx/>
              <a:tabLst/>
            </a:pPr>
            <a:r>
              <a:rPr lang="en-US" altLang="en-US" dirty="0">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any parameter crosses the critical threshold.</a:t>
            </a:r>
          </a:p>
          <a:p>
            <a:pPr lvl="0" algn="just" eaLnBrk="0" fontAlgn="base" hangingPunct="0">
              <a:lnSpc>
                <a:spcPct val="200000"/>
              </a:lnSpc>
              <a:spcBef>
                <a:spcPct val="0"/>
              </a:spcBef>
              <a:spcAft>
                <a:spcPct val="0"/>
              </a:spcAft>
              <a:buFontTx/>
              <a:buChar char="•"/>
            </a:pPr>
            <a:r>
              <a:rPr lang="en-US" b="1" dirty="0">
                <a:latin typeface="Times New Roman" panose="02020603050405020304" pitchFamily="18" charset="0"/>
                <a:cs typeface="Times New Roman" panose="02020603050405020304" pitchFamily="18" charset="0"/>
              </a:rPr>
              <a:t>Low-Cost, Scalable Solution:</a:t>
            </a:r>
            <a:r>
              <a:rPr lang="en-US" dirty="0">
                <a:latin typeface="Times New Roman" panose="02020603050405020304" pitchFamily="18" charset="0"/>
                <a:cs typeface="Times New Roman" panose="02020603050405020304" pitchFamily="18" charset="0"/>
              </a:rPr>
              <a:t> Uses affordable sensors and microcontrollers </a:t>
            </a:r>
          </a:p>
          <a:p>
            <a:pPr lvl="0" algn="just" eaLnBrk="0" fontAlgn="base" hangingPunct="0">
              <a:lnSpc>
                <a:spcPct val="200000"/>
              </a:lnSpc>
              <a:spcBef>
                <a:spcPct val="0"/>
              </a:spcBef>
              <a:spcAft>
                <a:spcPct val="0"/>
              </a:spcAft>
            </a:pPr>
            <a:r>
              <a:rPr lang="en-US" dirty="0">
                <a:latin typeface="Times New Roman" panose="02020603050405020304" pitchFamily="18" charset="0"/>
                <a:cs typeface="Times New Roman" panose="02020603050405020304" pitchFamily="18" charset="0"/>
              </a:rPr>
              <a:t> suitable for hospitals and home healthcare.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3835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9BB19-6F41-14AA-9F66-2BBD5F919E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1DB6E6-902C-1D37-9881-0D9B299CCF61}"/>
              </a:ext>
            </a:extLst>
          </p:cNvPr>
          <p:cNvSpPr>
            <a:spLocks noGrp="1"/>
          </p:cNvSpPr>
          <p:nvPr>
            <p:ph type="title" idx="4294967295"/>
          </p:nvPr>
        </p:nvSpPr>
        <p:spPr>
          <a:xfrm>
            <a:off x="355802" y="274638"/>
            <a:ext cx="8229600" cy="1143000"/>
          </a:xfrm>
        </p:spPr>
        <p:txBody>
          <a:bodyPr>
            <a:noAutofit/>
          </a:bodyPr>
          <a:lstStyle/>
          <a:p>
            <a:r>
              <a:rPr lang="en-US" b="1" dirty="0">
                <a:latin typeface="Times New Roman" panose="02020603050405020304" pitchFamily="18" charset="0"/>
                <a:cs typeface="Times New Roman" panose="02020603050405020304" pitchFamily="18" charset="0"/>
              </a:rPr>
              <a:t>ADVANTAGES</a:t>
            </a:r>
            <a:endParaRPr lang="en-IN" b="1" dirty="0">
              <a:latin typeface="Times New Roman" panose="02020603050405020304" pitchFamily="18" charset="0"/>
              <a:cs typeface="Times New Roman" panose="02020603050405020304" pitchFamily="18" charset="0"/>
            </a:endParaRPr>
          </a:p>
        </p:txBody>
      </p:sp>
      <p:pic>
        <p:nvPicPr>
          <p:cNvPr id="3" name="object 5">
            <a:extLst>
              <a:ext uri="{FF2B5EF4-FFF2-40B4-BE49-F238E27FC236}">
                <a16:creationId xmlns:a16="http://schemas.microsoft.com/office/drawing/2014/main" id="{D23AB0A8-D310-2A40-1AD6-02C2827EA8A2}"/>
              </a:ext>
            </a:extLst>
          </p:cNvPr>
          <p:cNvPicPr/>
          <p:nvPr/>
        </p:nvPicPr>
        <p:blipFill>
          <a:blip r:embed="rId2" cstate="print"/>
          <a:stretch>
            <a:fillRect/>
          </a:stretch>
        </p:blipFill>
        <p:spPr>
          <a:xfrm>
            <a:off x="372908" y="274638"/>
            <a:ext cx="778183" cy="792162"/>
          </a:xfrm>
          <a:prstGeom prst="rect">
            <a:avLst/>
          </a:prstGeom>
        </p:spPr>
      </p:pic>
      <p:sp>
        <p:nvSpPr>
          <p:cNvPr id="4" name="Rectangle 1">
            <a:extLst>
              <a:ext uri="{FF2B5EF4-FFF2-40B4-BE49-F238E27FC236}">
                <a16:creationId xmlns:a16="http://schemas.microsoft.com/office/drawing/2014/main" id="{245002E7-A99C-65FD-44FF-C1A9198FCA58}"/>
              </a:ext>
            </a:extLst>
          </p:cNvPr>
          <p:cNvSpPr>
            <a:spLocks noChangeArrowheads="1"/>
          </p:cNvSpPr>
          <p:nvPr/>
        </p:nvSpPr>
        <p:spPr bwMode="auto">
          <a:xfrm rot="10800000" flipV="1">
            <a:off x="592493" y="1437958"/>
            <a:ext cx="7992909" cy="4439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Monitoring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Continuously tracks vital health parameters like heart rate, blood pressure, IV fluid level, and patient presence.</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Instant Alerts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Provides automatic voice alerts, SMS notifications, and mobile app updates during emergencies.</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Remote Accessibility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Doctors and caregivers can access patient health data anytime, anywhere through a mobile app or cloud.</a:t>
            </a:r>
          </a:p>
          <a:p>
            <a:pPr marL="342900" marR="0" lvl="0" indent="-34290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Manual Effort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Minimizes the need for frequent manual checks by nurses, improving efficiency and reducing human error</a:t>
            </a:r>
          </a:p>
        </p:txBody>
      </p:sp>
    </p:spTree>
    <p:extLst>
      <p:ext uri="{BB962C8B-B14F-4D97-AF65-F5344CB8AC3E}">
        <p14:creationId xmlns:p14="http://schemas.microsoft.com/office/powerpoint/2010/main" val="857723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4BF1A-B5FF-05C7-0239-ABF85FCA3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BC88E-6120-EE2C-3D8F-8169D731E513}"/>
              </a:ext>
            </a:extLst>
          </p:cNvPr>
          <p:cNvSpPr>
            <a:spLocks noGrp="1"/>
          </p:cNvSpPr>
          <p:nvPr>
            <p:ph type="title"/>
          </p:nvPr>
        </p:nvSpPr>
        <p:spPr>
          <a:xfrm>
            <a:off x="457200" y="274638"/>
            <a:ext cx="8229600" cy="944562"/>
          </a:xfrm>
        </p:spPr>
        <p:txBody>
          <a:bodyPr>
            <a:normAutofit/>
          </a:bodyPr>
          <a:lstStyle/>
          <a:p>
            <a:r>
              <a:rPr lang="en-US" sz="2800" b="1" dirty="0">
                <a:latin typeface="Times New Roman" panose="02020603050405020304" pitchFamily="18" charset="0"/>
                <a:cs typeface="Times New Roman" panose="02020603050405020304" pitchFamily="18" charset="0"/>
              </a:rPr>
              <a:t>HARDWARE REQUIREMENTS</a:t>
            </a:r>
            <a:endParaRPr lang="en-IN" sz="28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16FE5E5-840D-7A7C-24CB-B5D6E58C5D58}"/>
              </a:ext>
            </a:extLst>
          </p:cNvPr>
          <p:cNvSpPr>
            <a:spLocks noGrp="1" noChangeArrowheads="1"/>
          </p:cNvSpPr>
          <p:nvPr>
            <p:ph idx="1"/>
          </p:nvPr>
        </p:nvSpPr>
        <p:spPr bwMode="auto">
          <a:xfrm>
            <a:off x="1301620" y="1272074"/>
            <a:ext cx="7391400" cy="5472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endParaRPr lang="en-GB" sz="2000" dirty="0">
              <a:latin typeface="Times New Roman" panose="02020603050405020304" pitchFamily="18" charset="0"/>
              <a:cs typeface="Times New Roman" pitchFamily="18" charset="0"/>
            </a:endParaRPr>
          </a:p>
          <a:p>
            <a:pPr marL="0" lvl="0" indent="0" eaLnBrk="0" fontAlgn="base" hangingPunct="0">
              <a:spcBef>
                <a:spcPct val="0"/>
              </a:spcBef>
              <a:spcAft>
                <a:spcPct val="0"/>
              </a:spcAft>
              <a:buNone/>
            </a:pPr>
            <a:r>
              <a:rPr lang="en-US" altLang="en-US" sz="2000" b="1" dirty="0">
                <a:latin typeface="Times New Roman" panose="02020603050405020304" pitchFamily="18" charset="0"/>
                <a:cs typeface="Times New Roman" panose="02020603050405020304" pitchFamily="18" charset="0"/>
              </a:rPr>
              <a:t>Microcontroller:</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NodeMCU</a:t>
            </a:r>
            <a:r>
              <a:rPr lang="en-US" altLang="en-US" sz="2000" dirty="0">
                <a:latin typeface="Times New Roman" panose="02020603050405020304" pitchFamily="18" charset="0"/>
                <a:cs typeface="Times New Roman" panose="02020603050405020304" pitchFamily="18" charset="0"/>
              </a:rPr>
              <a:t> (ESP8266) for data collection &amp;            </a:t>
            </a:r>
            <a:r>
              <a:rPr lang="en-US" altLang="en-US" sz="2000" dirty="0" err="1">
                <a:latin typeface="Times New Roman" panose="02020603050405020304" pitchFamily="18" charset="0"/>
                <a:cs typeface="Times New Roman" panose="02020603050405020304" pitchFamily="18" charset="0"/>
              </a:rPr>
              <a:t>WiFi</a:t>
            </a:r>
            <a:r>
              <a:rPr lang="en-US" altLang="en-US" sz="2000" dirty="0">
                <a:latin typeface="Times New Roman" panose="02020603050405020304" pitchFamily="18" charset="0"/>
                <a:cs typeface="Times New Roman" panose="02020603050405020304" pitchFamily="18" charset="0"/>
              </a:rPr>
              <a:t> connectivity</a:t>
            </a:r>
          </a:p>
          <a:p>
            <a:pPr marL="0" lvl="0" indent="0" eaLnBrk="0" fontAlgn="base" hangingPunct="0">
              <a:spcBef>
                <a:spcPct val="0"/>
              </a:spcBef>
              <a:spcAft>
                <a:spcPct val="0"/>
              </a:spcAft>
              <a:buNone/>
            </a:pPr>
            <a:r>
              <a:rPr lang="en-US" altLang="en-US" sz="2000" b="1" dirty="0">
                <a:latin typeface="Times New Roman" panose="02020603050405020304" pitchFamily="18" charset="0"/>
                <a:cs typeface="Times New Roman" panose="02020603050405020304" pitchFamily="18" charset="0"/>
              </a:rPr>
              <a:t>Sensors:</a:t>
            </a:r>
            <a:endParaRPr lang="en-US" altLang="en-US" sz="20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MAX30100 / MAX30102 → Heart Rate &amp; SpO2</a:t>
            </a:r>
          </a:p>
          <a:p>
            <a:pPr marL="0" lvl="0" indent="0" eaLnBrk="0" fontAlgn="base" hangingPunct="0">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DHT11 / LM35 → Temperature</a:t>
            </a:r>
          </a:p>
          <a:p>
            <a:pPr marL="0" lvl="0" indent="0" eaLnBrk="0" fontAlgn="base" hangingPunct="0">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IR Sensor / Load Cell → IV Fluid Level Detection</a:t>
            </a:r>
          </a:p>
          <a:p>
            <a:pPr marL="0" lvl="0" indent="0" eaLnBrk="0" fontAlgn="base" hangingPunct="0">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FSR Sensor → Patient Motion Detection</a:t>
            </a:r>
          </a:p>
          <a:p>
            <a:pPr marL="0" lvl="0" indent="0" eaLnBrk="0" fontAlgn="base" hangingPunct="0">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BP Sensor (Optional) → Blood Pressure Monitoring</a:t>
            </a:r>
          </a:p>
          <a:p>
            <a:pPr marL="0" lvl="0" indent="0" eaLnBrk="0" fontAlgn="base" hangingPunct="0">
              <a:spcBef>
                <a:spcPct val="0"/>
              </a:spcBef>
              <a:spcAft>
                <a:spcPct val="0"/>
              </a:spcAft>
              <a:buNone/>
            </a:pPr>
            <a:r>
              <a:rPr lang="en-US" altLang="en-US" sz="2000" b="1" u="sng" dirty="0">
                <a:latin typeface="Times New Roman" panose="02020603050405020304" pitchFamily="18" charset="0"/>
                <a:cs typeface="Times New Roman" panose="02020603050405020304" pitchFamily="18" charset="0"/>
              </a:rPr>
              <a:t>Alert Modules:</a:t>
            </a:r>
            <a:endParaRPr lang="en-US" altLang="en-US" sz="2000" u="sng"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DFPlayer</a:t>
            </a:r>
            <a:r>
              <a:rPr lang="en-US" altLang="en-US" sz="1800" dirty="0">
                <a:latin typeface="Times New Roman" panose="02020603050405020304" pitchFamily="18" charset="0"/>
                <a:cs typeface="Times New Roman" panose="02020603050405020304" pitchFamily="18" charset="0"/>
              </a:rPr>
              <a:t> Mini with Speaker → Voice Alerts</a:t>
            </a:r>
          </a:p>
          <a:p>
            <a:pPr marL="0" lvl="0" indent="0" eaLnBrk="0" fontAlgn="base" hangingPunct="0">
              <a:spcBef>
                <a:spcPct val="0"/>
              </a:spcBef>
              <a:spcAft>
                <a:spcPct val="0"/>
              </a:spcAft>
              <a:buFontTx/>
              <a:buChar char="•"/>
            </a:pPr>
            <a:r>
              <a:rPr lang="en-US" altLang="en-US" sz="1800" dirty="0">
                <a:latin typeface="Times New Roman" panose="02020603050405020304" pitchFamily="18" charset="0"/>
                <a:cs typeface="Times New Roman" panose="02020603050405020304" pitchFamily="18" charset="0"/>
              </a:rPr>
              <a:t>  GSM SIM800L Module → SMS Alerts (optional)</a:t>
            </a:r>
          </a:p>
          <a:p>
            <a:pPr marL="0" lvl="0" indent="0" eaLnBrk="0" fontAlgn="base" hangingPunct="0">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  Display:</a:t>
            </a:r>
            <a:r>
              <a:rPr lang="en-US" altLang="en-US" sz="1800" dirty="0">
                <a:latin typeface="Times New Roman" panose="02020603050405020304" pitchFamily="18" charset="0"/>
                <a:cs typeface="Times New Roman" panose="02020603050405020304" pitchFamily="18" charset="0"/>
              </a:rPr>
              <a:t> 16x2 LCD (Optional for local display)</a:t>
            </a:r>
          </a:p>
          <a:p>
            <a:pPr marL="0" lvl="0" indent="0" eaLnBrk="0" fontAlgn="base" hangingPunct="0">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  Power Supply:</a:t>
            </a:r>
            <a:r>
              <a:rPr lang="en-US" altLang="en-US" sz="1800" dirty="0">
                <a:latin typeface="Times New Roman" panose="02020603050405020304" pitchFamily="18" charset="0"/>
                <a:cs typeface="Times New Roman" panose="02020603050405020304" pitchFamily="18" charset="0"/>
              </a:rPr>
              <a:t> 5V Adapter / Power Bank</a:t>
            </a:r>
          </a:p>
          <a:p>
            <a:pPr marL="0" lvl="0" indent="0" eaLnBrk="0" fontAlgn="base" hangingPunct="0">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FontTx/>
              <a:buChar char="•"/>
            </a:pPr>
            <a:endParaRPr lang="en-US" altLang="en-US" sz="2000" dirty="0">
              <a:latin typeface="Times New Roman" panose="02020603050405020304" pitchFamily="18" charset="0"/>
              <a:cs typeface="Times New Roman" panose="02020603050405020304" pitchFamily="18" charset="0"/>
            </a:endParaRPr>
          </a:p>
          <a:p>
            <a:endParaRPr lang="en-GB" sz="2000" dirty="0">
              <a:latin typeface="Times New Roman" panose="02020603050405020304" pitchFamily="18" charset="0"/>
              <a:cs typeface="Times New Roman" pitchFamily="18" charset="0"/>
            </a:endParaRPr>
          </a:p>
          <a:p>
            <a:pPr marL="0" indent="0">
              <a:buNone/>
            </a:pPr>
            <a:r>
              <a:rPr lang="en-GB" sz="1800" dirty="0">
                <a:latin typeface="Times New Roman" panose="02020603050405020304" pitchFamily="18" charset="0"/>
                <a:cs typeface="Times New Roman" panose="02020603050405020304" pitchFamily="18" charset="0"/>
              </a:rPr>
              <a:t> </a:t>
            </a:r>
          </a:p>
        </p:txBody>
      </p:sp>
      <p:pic>
        <p:nvPicPr>
          <p:cNvPr id="5" name="object 5">
            <a:extLst>
              <a:ext uri="{FF2B5EF4-FFF2-40B4-BE49-F238E27FC236}">
                <a16:creationId xmlns:a16="http://schemas.microsoft.com/office/drawing/2014/main" id="{DFD5AA36-9775-6A40-F490-888CF326AE88}"/>
              </a:ext>
            </a:extLst>
          </p:cNvPr>
          <p:cNvPicPr/>
          <p:nvPr/>
        </p:nvPicPr>
        <p:blipFill>
          <a:blip r:embed="rId2" cstate="print"/>
          <a:stretch>
            <a:fillRect/>
          </a:stretch>
        </p:blipFill>
        <p:spPr>
          <a:xfrm>
            <a:off x="338665" y="221764"/>
            <a:ext cx="778183" cy="692636"/>
          </a:xfrm>
          <a:prstGeom prst="rect">
            <a:avLst/>
          </a:prstGeom>
        </p:spPr>
      </p:pic>
    </p:spTree>
    <p:extLst>
      <p:ext uri="{BB962C8B-B14F-4D97-AF65-F5344CB8AC3E}">
        <p14:creationId xmlns:p14="http://schemas.microsoft.com/office/powerpoint/2010/main" val="903527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2800" b="1" dirty="0">
                <a:latin typeface="Times New Roman" panose="02020603050405020304" pitchFamily="18" charset="0"/>
                <a:cs typeface="Times New Roman" panose="02020603050405020304" pitchFamily="18" charset="0"/>
              </a:rPr>
              <a:t>SOFTWARE REQUIREMENTS</a:t>
            </a:r>
            <a:endParaRPr lang="en-IN" sz="2800"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C100054A-2007-B369-E172-95494BC7C9D0}"/>
              </a:ext>
            </a:extLst>
          </p:cNvPr>
          <p:cNvSpPr>
            <a:spLocks noGrp="1" noChangeArrowheads="1"/>
          </p:cNvSpPr>
          <p:nvPr>
            <p:ph idx="1"/>
          </p:nvPr>
        </p:nvSpPr>
        <p:spPr bwMode="auto">
          <a:xfrm>
            <a:off x="990600" y="935389"/>
            <a:ext cx="7391400" cy="5506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endParaRPr lang="en-GB" sz="2000" dirty="0">
              <a:latin typeface="Times New Roman" panose="02020603050405020304" pitchFamily="18" charset="0"/>
              <a:cs typeface="Times New Roman" pitchFamily="18" charset="0"/>
            </a:endParaRPr>
          </a:p>
          <a:p>
            <a:pPr marL="0" lvl="0" indent="0" eaLnBrk="0" fontAlgn="base" hangingPunct="0">
              <a:lnSpc>
                <a:spcPct val="15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Programming Language:</a:t>
            </a:r>
            <a:r>
              <a:rPr lang="en-US" altLang="en-US" sz="2000" dirty="0">
                <a:latin typeface="Times New Roman" panose="02020603050405020304" pitchFamily="18" charset="0"/>
                <a:cs typeface="Times New Roman" panose="02020603050405020304" pitchFamily="18" charset="0"/>
              </a:rPr>
              <a:t> Arduino C/C++, Embedded C</a:t>
            </a:r>
          </a:p>
          <a:p>
            <a:pPr marL="0" lvl="0" indent="0" eaLnBrk="0" fontAlgn="base" hangingPunct="0">
              <a:lnSpc>
                <a:spcPct val="150000"/>
              </a:lnSpc>
              <a:spcBef>
                <a:spcPct val="0"/>
              </a:spcBef>
              <a:spcAft>
                <a:spcPct val="0"/>
              </a:spcAft>
              <a:buFontTx/>
              <a:buChar char="•"/>
            </a:pPr>
            <a:r>
              <a:rPr lang="en-US" altLang="en-US" sz="2000" b="1" dirty="0">
                <a:latin typeface="Times New Roman" panose="02020603050405020304" pitchFamily="18" charset="0"/>
                <a:cs typeface="Times New Roman" panose="02020603050405020304" pitchFamily="18" charset="0"/>
              </a:rPr>
              <a:t>Development Environment:</a:t>
            </a:r>
            <a:r>
              <a:rPr lang="en-US" altLang="en-US" sz="2000" dirty="0">
                <a:latin typeface="Times New Roman" panose="02020603050405020304" pitchFamily="18" charset="0"/>
                <a:cs typeface="Times New Roman" panose="02020603050405020304" pitchFamily="18" charset="0"/>
              </a:rPr>
              <a:t> Arduino IDE</a:t>
            </a:r>
          </a:p>
          <a:p>
            <a:pPr marL="0" indent="0">
              <a:lnSpc>
                <a:spcPct val="150000"/>
              </a:lnSpc>
              <a:buNone/>
            </a:pPr>
            <a:r>
              <a:rPr lang="en-US" sz="2000" b="1" dirty="0">
                <a:latin typeface="Times New Roman" panose="02020603050405020304" pitchFamily="18" charset="0"/>
                <a:cs typeface="Times New Roman" panose="02020603050405020304" pitchFamily="18" charset="0"/>
              </a:rPr>
              <a:t>      </a:t>
            </a:r>
            <a:r>
              <a:rPr lang="en-US" sz="2000" b="1" u="sng" dirty="0">
                <a:latin typeface="Times New Roman" panose="02020603050405020304" pitchFamily="18" charset="0"/>
                <a:cs typeface="Times New Roman" panose="02020603050405020304" pitchFamily="18" charset="0"/>
              </a:rPr>
              <a:t>Libraries Used:</a:t>
            </a:r>
            <a:endParaRPr lang="en-US" sz="2000" u="sng"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Adafruit_MAX30100 (Heart Rate &amp; SpO2 Sensor)</a:t>
            </a:r>
          </a:p>
          <a:p>
            <a:pPr>
              <a:lnSpc>
                <a:spcPct val="150000"/>
              </a:lnSpc>
            </a:pPr>
            <a:r>
              <a:rPr lang="en-US" sz="2000" dirty="0">
                <a:latin typeface="Times New Roman" panose="02020603050405020304" pitchFamily="18" charset="0"/>
                <a:cs typeface="Times New Roman" panose="02020603050405020304" pitchFamily="18" charset="0"/>
              </a:rPr>
              <a:t>DHT (Temperature Sensor)</a:t>
            </a:r>
          </a:p>
          <a:p>
            <a:pPr>
              <a:lnSpc>
                <a:spcPct val="150000"/>
              </a:lnSpc>
            </a:pPr>
            <a:r>
              <a:rPr lang="en-US" sz="2000" dirty="0">
                <a:latin typeface="Times New Roman" panose="02020603050405020304" pitchFamily="18" charset="0"/>
                <a:cs typeface="Times New Roman" panose="02020603050405020304" pitchFamily="18" charset="0"/>
              </a:rPr>
              <a:t>HX711 (Load Cell)</a:t>
            </a:r>
          </a:p>
          <a:p>
            <a:pPr>
              <a:lnSpc>
                <a:spcPct val="150000"/>
              </a:lnSpc>
            </a:pPr>
            <a:r>
              <a:rPr lang="en-US" sz="2000" dirty="0">
                <a:latin typeface="Times New Roman" panose="02020603050405020304" pitchFamily="18" charset="0"/>
                <a:cs typeface="Times New Roman" panose="02020603050405020304" pitchFamily="18" charset="0"/>
              </a:rPr>
              <a:t>Firebase ESP8266 Library</a:t>
            </a:r>
          </a:p>
          <a:p>
            <a:pPr marL="0" lvl="0" indent="0" eaLnBrk="0" fontAlgn="base" hangingPunct="0">
              <a:lnSpc>
                <a:spcPct val="150000"/>
              </a:lnSpc>
              <a:spcBef>
                <a:spcPct val="0"/>
              </a:spcBef>
              <a:spcAft>
                <a:spcPct val="0"/>
              </a:spcAft>
              <a:buFontTx/>
              <a:buChar char="•"/>
            </a:pPr>
            <a:endParaRPr lang="en-US" altLang="en-US" sz="2000" dirty="0">
              <a:latin typeface="Times New Roman" panose="02020603050405020304" pitchFamily="18" charset="0"/>
              <a:cs typeface="Times New Roman" panose="02020603050405020304" pitchFamily="18" charset="0"/>
            </a:endParaRPr>
          </a:p>
          <a:p>
            <a:pPr>
              <a:lnSpc>
                <a:spcPct val="150000"/>
              </a:lnSpc>
            </a:pPr>
            <a:endParaRPr lang="en-GB" sz="2000" dirty="0">
              <a:latin typeface="Times New Roman" panose="02020603050405020304" pitchFamily="18" charset="0"/>
              <a:cs typeface="Times New Roman" pitchFamily="18" charset="0"/>
            </a:endParaRPr>
          </a:p>
          <a:p>
            <a:pPr marL="0" indent="0">
              <a:lnSpc>
                <a:spcPct val="150000"/>
              </a:lnSpc>
              <a:buNone/>
            </a:pPr>
            <a:r>
              <a:rPr lang="en-GB" sz="1800" dirty="0">
                <a:latin typeface="Times New Roman" panose="02020603050405020304" pitchFamily="18" charset="0"/>
                <a:cs typeface="Times New Roman" panose="02020603050405020304" pitchFamily="18" charset="0"/>
              </a:rPr>
              <a:t> </a:t>
            </a:r>
          </a:p>
        </p:txBody>
      </p:sp>
      <p:pic>
        <p:nvPicPr>
          <p:cNvPr id="5" name="object 5">
            <a:extLst>
              <a:ext uri="{FF2B5EF4-FFF2-40B4-BE49-F238E27FC236}">
                <a16:creationId xmlns:a16="http://schemas.microsoft.com/office/drawing/2014/main" id="{BACA936E-1BF8-8F51-50C4-0FD3C3BCC1C9}"/>
              </a:ext>
            </a:extLst>
          </p:cNvPr>
          <p:cNvPicPr/>
          <p:nvPr/>
        </p:nvPicPr>
        <p:blipFill>
          <a:blip r:embed="rId2" cstate="print"/>
          <a:stretch>
            <a:fillRect/>
          </a:stretch>
        </p:blipFill>
        <p:spPr>
          <a:xfrm>
            <a:off x="338665" y="221764"/>
            <a:ext cx="778183" cy="692636"/>
          </a:xfrm>
          <a:prstGeom prst="rect">
            <a:avLst/>
          </a:prstGeom>
        </p:spPr>
      </p:pic>
    </p:spTree>
    <p:extLst>
      <p:ext uri="{BB962C8B-B14F-4D97-AF65-F5344CB8AC3E}">
        <p14:creationId xmlns:p14="http://schemas.microsoft.com/office/powerpoint/2010/main" val="2529451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063DF-B978-4A96-DF90-132FFF52256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068A59B-B9DE-7472-5265-301CA246BFB9}"/>
              </a:ext>
            </a:extLst>
          </p:cNvPr>
          <p:cNvSpPr txBox="1"/>
          <p:nvPr/>
        </p:nvSpPr>
        <p:spPr>
          <a:xfrm>
            <a:off x="2514600" y="457200"/>
            <a:ext cx="4318811" cy="461665"/>
          </a:xfrm>
          <a:prstGeom prst="rect">
            <a:avLst/>
          </a:prstGeom>
          <a:noFill/>
        </p:spPr>
        <p:txBody>
          <a:bodyPr wrap="none" rtlCol="0">
            <a:spAutoFit/>
          </a:bodyPr>
          <a:lstStyle/>
          <a:p>
            <a:r>
              <a:rPr lang="en-IN" sz="2400" b="1" dirty="0">
                <a:latin typeface="Times New Roman" panose="02020603050405020304" pitchFamily="18" charset="0"/>
                <a:cs typeface="Times New Roman" panose="02020603050405020304" pitchFamily="18" charset="0"/>
              </a:rPr>
              <a:t>ARCHITECTURE DIAGRAM</a:t>
            </a:r>
          </a:p>
        </p:txBody>
      </p:sp>
      <p:pic>
        <p:nvPicPr>
          <p:cNvPr id="2" name="object 5">
            <a:extLst>
              <a:ext uri="{FF2B5EF4-FFF2-40B4-BE49-F238E27FC236}">
                <a16:creationId xmlns:a16="http://schemas.microsoft.com/office/drawing/2014/main" id="{FF380B0C-9C41-57C3-639B-EA0EC1104A48}"/>
              </a:ext>
            </a:extLst>
          </p:cNvPr>
          <p:cNvPicPr/>
          <p:nvPr/>
        </p:nvPicPr>
        <p:blipFill>
          <a:blip r:embed="rId2" cstate="print"/>
          <a:stretch>
            <a:fillRect/>
          </a:stretch>
        </p:blipFill>
        <p:spPr>
          <a:xfrm>
            <a:off x="338665" y="221764"/>
            <a:ext cx="778183" cy="697101"/>
          </a:xfrm>
          <a:prstGeom prst="rect">
            <a:avLst/>
          </a:prstGeom>
        </p:spPr>
      </p:pic>
      <p:pic>
        <p:nvPicPr>
          <p:cNvPr id="1030" name="Picture 6" descr="Generated image">
            <a:extLst>
              <a:ext uri="{FF2B5EF4-FFF2-40B4-BE49-F238E27FC236}">
                <a16:creationId xmlns:a16="http://schemas.microsoft.com/office/drawing/2014/main" id="{E87B2AC4-7F1A-B430-50F3-AC97D35B08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13598"/>
            <a:ext cx="8027152" cy="5351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4592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886E42-9754-D5D4-02E1-E88A60C9BB76}"/>
              </a:ext>
            </a:extLst>
          </p:cNvPr>
          <p:cNvPicPr/>
          <p:nvPr/>
        </p:nvPicPr>
        <p:blipFill>
          <a:blip r:embed="rId2"/>
          <a:stretch>
            <a:fillRect/>
          </a:stretch>
        </p:blipFill>
        <p:spPr>
          <a:xfrm>
            <a:off x="1706245" y="2243137"/>
            <a:ext cx="5731510" cy="2371725"/>
          </a:xfrm>
          <a:prstGeom prst="rect">
            <a:avLst/>
          </a:prstGeom>
        </p:spPr>
      </p:pic>
      <p:sp>
        <p:nvSpPr>
          <p:cNvPr id="3" name="TextBox 2">
            <a:extLst>
              <a:ext uri="{FF2B5EF4-FFF2-40B4-BE49-F238E27FC236}">
                <a16:creationId xmlns:a16="http://schemas.microsoft.com/office/drawing/2014/main" id="{50C3213C-C8BD-2EF3-2D18-0076D521117D}"/>
              </a:ext>
            </a:extLst>
          </p:cNvPr>
          <p:cNvSpPr txBox="1"/>
          <p:nvPr/>
        </p:nvSpPr>
        <p:spPr>
          <a:xfrm>
            <a:off x="3200400" y="762000"/>
            <a:ext cx="264687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Data flow diagram</a:t>
            </a:r>
            <a:endParaRPr lang="en-IN"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40B486A-3168-C97F-E8F9-738B43DE2CAE}"/>
              </a:ext>
            </a:extLst>
          </p:cNvPr>
          <p:cNvSpPr txBox="1"/>
          <p:nvPr/>
        </p:nvSpPr>
        <p:spPr>
          <a:xfrm>
            <a:off x="4038600" y="1223665"/>
            <a:ext cx="842154" cy="369332"/>
          </a:xfrm>
          <a:prstGeom prst="rect">
            <a:avLst/>
          </a:prstGeom>
          <a:noFill/>
        </p:spPr>
        <p:txBody>
          <a:bodyPr wrap="none" rtlCol="0">
            <a:spAutoFit/>
          </a:bodyPr>
          <a:lstStyle/>
          <a:p>
            <a:r>
              <a:rPr lang="en-US" b="1" dirty="0" err="1"/>
              <a:t>Leval</a:t>
            </a:r>
            <a:r>
              <a:rPr lang="en-US" b="1" dirty="0"/>
              <a:t> 0</a:t>
            </a:r>
            <a:endParaRPr lang="en-IN" b="1" dirty="0"/>
          </a:p>
        </p:txBody>
      </p:sp>
    </p:spTree>
    <p:extLst>
      <p:ext uri="{BB962C8B-B14F-4D97-AF65-F5344CB8AC3E}">
        <p14:creationId xmlns:p14="http://schemas.microsoft.com/office/powerpoint/2010/main" val="2892809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45CFAB8-2494-5664-6D8A-28E1C1759428}"/>
              </a:ext>
            </a:extLst>
          </p:cNvPr>
          <p:cNvPicPr/>
          <p:nvPr/>
        </p:nvPicPr>
        <p:blipFill>
          <a:blip r:embed="rId2"/>
          <a:stretch>
            <a:fillRect/>
          </a:stretch>
        </p:blipFill>
        <p:spPr>
          <a:xfrm>
            <a:off x="533400" y="2057400"/>
            <a:ext cx="8077200" cy="3810000"/>
          </a:xfrm>
          <a:prstGeom prst="rect">
            <a:avLst/>
          </a:prstGeom>
        </p:spPr>
      </p:pic>
      <p:sp>
        <p:nvSpPr>
          <p:cNvPr id="3" name="TextBox 2">
            <a:extLst>
              <a:ext uri="{FF2B5EF4-FFF2-40B4-BE49-F238E27FC236}">
                <a16:creationId xmlns:a16="http://schemas.microsoft.com/office/drawing/2014/main" id="{BE454762-550C-2E79-F190-07CB46A9B122}"/>
              </a:ext>
            </a:extLst>
          </p:cNvPr>
          <p:cNvSpPr txBox="1"/>
          <p:nvPr/>
        </p:nvSpPr>
        <p:spPr>
          <a:xfrm>
            <a:off x="3200400" y="762000"/>
            <a:ext cx="264687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Data flow diagram</a:t>
            </a:r>
            <a:endParaRPr lang="en-IN"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494084E-4E79-A906-BFAF-621DE3C855AE}"/>
              </a:ext>
            </a:extLst>
          </p:cNvPr>
          <p:cNvSpPr txBox="1"/>
          <p:nvPr/>
        </p:nvSpPr>
        <p:spPr>
          <a:xfrm>
            <a:off x="4038600" y="1223665"/>
            <a:ext cx="842154" cy="369332"/>
          </a:xfrm>
          <a:prstGeom prst="rect">
            <a:avLst/>
          </a:prstGeom>
          <a:noFill/>
        </p:spPr>
        <p:txBody>
          <a:bodyPr wrap="none" rtlCol="0">
            <a:spAutoFit/>
          </a:bodyPr>
          <a:lstStyle/>
          <a:p>
            <a:r>
              <a:rPr lang="en-US" b="1" dirty="0" err="1"/>
              <a:t>Leval</a:t>
            </a:r>
            <a:r>
              <a:rPr lang="en-US" b="1" dirty="0"/>
              <a:t> 1</a:t>
            </a:r>
            <a:endParaRPr lang="en-IN" b="1" dirty="0"/>
          </a:p>
        </p:txBody>
      </p:sp>
    </p:spTree>
    <p:extLst>
      <p:ext uri="{BB962C8B-B14F-4D97-AF65-F5344CB8AC3E}">
        <p14:creationId xmlns:p14="http://schemas.microsoft.com/office/powerpoint/2010/main" val="1069116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5">
            <a:extLst>
              <a:ext uri="{FF2B5EF4-FFF2-40B4-BE49-F238E27FC236}">
                <a16:creationId xmlns:a16="http://schemas.microsoft.com/office/drawing/2014/main" id="{78541788-5668-C788-5FB3-4354059F0392}"/>
              </a:ext>
            </a:extLst>
          </p:cNvPr>
          <p:cNvPicPr/>
          <p:nvPr/>
        </p:nvPicPr>
        <p:blipFill>
          <a:blip r:embed="rId2" cstate="print"/>
          <a:stretch>
            <a:fillRect/>
          </a:stretch>
        </p:blipFill>
        <p:spPr>
          <a:xfrm>
            <a:off x="338665" y="221764"/>
            <a:ext cx="778183" cy="692636"/>
          </a:xfrm>
          <a:prstGeom prst="rect">
            <a:avLst/>
          </a:prstGeom>
        </p:spPr>
      </p:pic>
      <p:sp>
        <p:nvSpPr>
          <p:cNvPr id="8" name="Title 7"/>
          <p:cNvSpPr>
            <a:spLocks noGrp="1"/>
          </p:cNvSpPr>
          <p:nvPr>
            <p:ph type="title"/>
          </p:nvPr>
        </p:nvSpPr>
        <p:spPr>
          <a:xfrm>
            <a:off x="575735" y="685800"/>
            <a:ext cx="8229600" cy="1143000"/>
          </a:xfrm>
        </p:spPr>
        <p:txBody>
          <a:bodyPr/>
          <a:lstStyle/>
          <a:p>
            <a:r>
              <a:rPr lang="en-GB" dirty="0">
                <a:latin typeface="Times New Roman" panose="02020603050405020304" pitchFamily="18" charset="0"/>
                <a:cs typeface="Times New Roman" panose="02020603050405020304" pitchFamily="18" charset="0"/>
              </a:rPr>
              <a:t>MODULES</a:t>
            </a:r>
          </a:p>
        </p:txBody>
      </p:sp>
      <p:sp>
        <p:nvSpPr>
          <p:cNvPr id="2" name="Rectangle 1">
            <a:extLst>
              <a:ext uri="{FF2B5EF4-FFF2-40B4-BE49-F238E27FC236}">
                <a16:creationId xmlns:a16="http://schemas.microsoft.com/office/drawing/2014/main" id="{B5084487-799C-A933-F484-EDDEC59B9569}"/>
              </a:ext>
            </a:extLst>
          </p:cNvPr>
          <p:cNvSpPr>
            <a:spLocks noChangeArrowheads="1"/>
          </p:cNvSpPr>
          <p:nvPr/>
        </p:nvSpPr>
        <p:spPr bwMode="auto">
          <a:xfrm>
            <a:off x="1871135" y="2209800"/>
            <a:ext cx="5638800" cy="1668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lang="en-US" altLang="en-US" b="1" dirty="0">
                <a:latin typeface="Times New Roman" panose="02020603050405020304" pitchFamily="18" charset="0"/>
                <a:cs typeface="Times New Roman" panose="02020603050405020304" pitchFamily="18" charset="0"/>
              </a:rPr>
              <a:t>Module 1: </a:t>
            </a:r>
            <a:r>
              <a:rPr lang="en-US" altLang="en-US" dirty="0">
                <a:latin typeface="Times New Roman" panose="02020603050405020304" pitchFamily="18" charset="0"/>
                <a:cs typeface="Times New Roman" panose="02020603050405020304" pitchFamily="18" charset="0"/>
              </a:rPr>
              <a:t>Sensing Module</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 </a:t>
            </a:r>
            <a:r>
              <a:rPr lang="en-US" altLang="en-US" b="1" dirty="0">
                <a:latin typeface="Times New Roman" panose="02020603050405020304" pitchFamily="18" charset="0"/>
                <a:cs typeface="Times New Roman" panose="02020603050405020304" pitchFamily="18" charset="0"/>
              </a:rPr>
              <a:t>2 : </a:t>
            </a:r>
            <a:r>
              <a:rPr lang="en-US" altLang="en-US" dirty="0">
                <a:latin typeface="Times New Roman" panose="02020603050405020304" pitchFamily="18" charset="0"/>
                <a:cs typeface="Times New Roman" panose="02020603050405020304" pitchFamily="18" charset="0"/>
              </a:rPr>
              <a:t>processing Module</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Module </a:t>
            </a:r>
            <a:r>
              <a:rPr lang="en-US" altLang="en-US" b="1" dirty="0">
                <a:latin typeface="Times New Roman" panose="02020603050405020304" pitchFamily="18" charset="0"/>
                <a:cs typeface="Times New Roman" panose="02020603050405020304" pitchFamily="18" charset="0"/>
              </a:rPr>
              <a:t>3 : </a:t>
            </a:r>
            <a:r>
              <a:rPr lang="en-US" altLang="en-US" dirty="0">
                <a:latin typeface="Times New Roman" panose="02020603050405020304" pitchFamily="18" charset="0"/>
                <a:cs typeface="Times New Roman" panose="02020603050405020304" pitchFamily="18" charset="0"/>
              </a:rPr>
              <a:t>communication Module &amp; alert Module</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2935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00524-ED39-C4B6-7985-3DD1B9127346}"/>
            </a:ext>
          </a:extLst>
        </p:cNvPr>
        <p:cNvGrpSpPr/>
        <p:nvPr/>
      </p:nvGrpSpPr>
      <p:grpSpPr>
        <a:xfrm>
          <a:off x="0" y="0"/>
          <a:ext cx="0" cy="0"/>
          <a:chOff x="0" y="0"/>
          <a:chExt cx="0" cy="0"/>
        </a:xfrm>
      </p:grpSpPr>
      <p:pic>
        <p:nvPicPr>
          <p:cNvPr id="3" name="object 5">
            <a:extLst>
              <a:ext uri="{FF2B5EF4-FFF2-40B4-BE49-F238E27FC236}">
                <a16:creationId xmlns:a16="http://schemas.microsoft.com/office/drawing/2014/main" id="{556A04E8-EE5F-7F49-FEC0-4F8129D64FFF}"/>
              </a:ext>
            </a:extLst>
          </p:cNvPr>
          <p:cNvPicPr/>
          <p:nvPr/>
        </p:nvPicPr>
        <p:blipFill>
          <a:blip r:embed="rId2" cstate="print"/>
          <a:stretch>
            <a:fillRect/>
          </a:stretch>
        </p:blipFill>
        <p:spPr>
          <a:xfrm>
            <a:off x="338665" y="221764"/>
            <a:ext cx="778183" cy="692636"/>
          </a:xfrm>
          <a:prstGeom prst="rect">
            <a:avLst/>
          </a:prstGeom>
        </p:spPr>
      </p:pic>
      <p:sp>
        <p:nvSpPr>
          <p:cNvPr id="8" name="Title 7">
            <a:extLst>
              <a:ext uri="{FF2B5EF4-FFF2-40B4-BE49-F238E27FC236}">
                <a16:creationId xmlns:a16="http://schemas.microsoft.com/office/drawing/2014/main" id="{64EE7686-32C4-8679-9839-4A1F668ADC83}"/>
              </a:ext>
            </a:extLst>
          </p:cNvPr>
          <p:cNvSpPr>
            <a:spLocks noGrp="1"/>
          </p:cNvSpPr>
          <p:nvPr>
            <p:ph type="title"/>
          </p:nvPr>
        </p:nvSpPr>
        <p:spPr>
          <a:xfrm>
            <a:off x="457200" y="568082"/>
            <a:ext cx="8229600" cy="1143000"/>
          </a:xfrm>
        </p:spPr>
        <p:txBody>
          <a:bodyPr>
            <a:normAutofit fontScale="90000"/>
          </a:bodyPr>
          <a:lstStyle/>
          <a:p>
            <a:r>
              <a:rPr lang="en-GB" dirty="0">
                <a:latin typeface="Times New Roman" panose="02020603050405020304" pitchFamily="18" charset="0"/>
                <a:cs typeface="Times New Roman" panose="02020603050405020304" pitchFamily="18" charset="0"/>
              </a:rPr>
              <a:t>MODULES</a:t>
            </a:r>
            <a:br>
              <a:rPr lang="en-GB" dirty="0">
                <a:latin typeface="Times New Roman" panose="02020603050405020304" pitchFamily="18" charset="0"/>
                <a:cs typeface="Times New Roman" panose="02020603050405020304" pitchFamily="18" charset="0"/>
              </a:rPr>
            </a:br>
            <a:r>
              <a:rPr lang="en-US" altLang="en-US" sz="2200" dirty="0">
                <a:latin typeface="Times New Roman" panose="02020603050405020304" pitchFamily="18" charset="0"/>
                <a:cs typeface="Times New Roman" panose="02020603050405020304" pitchFamily="18" charset="0"/>
              </a:rPr>
              <a:t>Sensing Module</a:t>
            </a:r>
            <a:br>
              <a:rPr lang="en-US" altLang="en-US"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FF66E95-863C-75B0-A2A0-AB69C95D0FA9}"/>
              </a:ext>
            </a:extLst>
          </p:cNvPr>
          <p:cNvSpPr txBox="1"/>
          <p:nvPr/>
        </p:nvSpPr>
        <p:spPr>
          <a:xfrm>
            <a:off x="1752600" y="4953000"/>
            <a:ext cx="184731" cy="369332"/>
          </a:xfrm>
          <a:prstGeom prst="rect">
            <a:avLst/>
          </a:prstGeom>
          <a:noFill/>
        </p:spPr>
        <p:txBody>
          <a:bodyPr wrap="none" rtlCol="0">
            <a:spAutoFit/>
          </a:bodyPr>
          <a:lstStyle/>
          <a:p>
            <a:endParaRPr lang="en-US" dirty="0"/>
          </a:p>
        </p:txBody>
      </p:sp>
      <p:sp>
        <p:nvSpPr>
          <p:cNvPr id="2" name="Rectangle 1">
            <a:extLst>
              <a:ext uri="{FF2B5EF4-FFF2-40B4-BE49-F238E27FC236}">
                <a16:creationId xmlns:a16="http://schemas.microsoft.com/office/drawing/2014/main" id="{24058560-EC75-2699-FE41-B2C93CDE1405}"/>
              </a:ext>
            </a:extLst>
          </p:cNvPr>
          <p:cNvSpPr>
            <a:spLocks noChangeArrowheads="1"/>
          </p:cNvSpPr>
          <p:nvPr/>
        </p:nvSpPr>
        <p:spPr bwMode="auto">
          <a:xfrm>
            <a:off x="570655" y="1382145"/>
            <a:ext cx="8229600" cy="4438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Primary Function: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Collects real-time patient health data</a:t>
            </a:r>
            <a:r>
              <a:rPr kumimoji="0" lang="en-US" altLang="en-US" sz="1800" b="0" i="0" u="none" strike="noStrike" cap="none" normalizeH="0" baseline="0" dirty="0">
                <a:ln>
                  <a:noFill/>
                </a:ln>
                <a:solidFill>
                  <a:schemeClr val="tx1"/>
                </a:solidFill>
                <a:effectLst/>
                <a:latin typeface="Arial" panose="020B0604020202020204" pitchFamily="34" charset="0"/>
              </a:rPr>
              <a:t> and </a:t>
            </a:r>
          </a:p>
          <a:p>
            <a:pPr marR="0" lvl="0" algn="l" defTabSz="914400" rtl="0" eaLnBrk="0" fontAlgn="base" latinLnBrk="0" hangingPunct="0">
              <a:lnSpc>
                <a:spcPct val="200000"/>
              </a:lnSpc>
              <a:spcBef>
                <a:spcPct val="0"/>
              </a:spcBef>
              <a:spcAft>
                <a:spcPct val="0"/>
              </a:spcAft>
              <a:buClrTx/>
              <a:buSzTx/>
              <a:tabLst/>
            </a:pPr>
            <a:r>
              <a:rPr lang="en-US" altLang="en-US" dirty="0">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detects physical patient presence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Monitored Vital Signs:</a:t>
            </a:r>
            <a:r>
              <a:rPr kumimoji="0" lang="en-US" altLang="en-US" sz="1800" b="0" i="0" u="none" strike="noStrike" cap="none" normalizeH="0" baseline="0" dirty="0">
                <a:ln>
                  <a:noFill/>
                </a:ln>
                <a:solidFill>
                  <a:schemeClr val="tx1"/>
                </a:solidFill>
                <a:effectLst/>
                <a:latin typeface="Arial" panose="020B0604020202020204" pitchFamily="34" charset="0"/>
              </a:rPr>
              <a:t> Monitors </a:t>
            </a:r>
            <a:r>
              <a:rPr kumimoji="0" lang="en-US" altLang="en-US" sz="1800" b="1" i="0" u="none" strike="noStrike" cap="none" normalizeH="0" baseline="0" dirty="0">
                <a:ln>
                  <a:noFill/>
                </a:ln>
                <a:solidFill>
                  <a:schemeClr val="tx1"/>
                </a:solidFill>
                <a:effectLst/>
                <a:latin typeface="Arial" panose="020B0604020202020204" pitchFamily="34" charset="0"/>
              </a:rPr>
              <a:t>heart rate, blood pressure, and IV fluid levels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 Sensor Components:</a:t>
            </a:r>
            <a:r>
              <a:rPr kumimoji="0" lang="en-US" altLang="en-US" sz="1800" b="0" i="0" u="none" strike="noStrike" cap="none" normalizeH="0" baseline="0" dirty="0">
                <a:ln>
                  <a:noFill/>
                </a:ln>
                <a:solidFill>
                  <a:schemeClr val="tx1"/>
                </a:solidFill>
                <a:effectLst/>
                <a:latin typeface="Arial" panose="020B0604020202020204" pitchFamily="34" charset="0"/>
              </a:rPr>
              <a:t> Uses </a:t>
            </a:r>
            <a:r>
              <a:rPr kumimoji="0" lang="en-US" altLang="en-US" sz="1800" b="1" i="0" u="none" strike="noStrike" cap="none" normalizeH="0" baseline="0" dirty="0">
                <a:ln>
                  <a:noFill/>
                </a:ln>
                <a:solidFill>
                  <a:schemeClr val="tx1"/>
                </a:solidFill>
                <a:effectLst/>
                <a:latin typeface="Arial" panose="020B0604020202020204" pitchFamily="34" charset="0"/>
              </a:rPr>
              <a:t>MAX30100/MAX30102</a:t>
            </a:r>
            <a:r>
              <a:rPr kumimoji="0" lang="en-US" altLang="en-US" sz="1800" b="0" i="0" u="none" strike="noStrike" cap="none" normalizeH="0" baseline="0" dirty="0">
                <a:ln>
                  <a:noFill/>
                </a:ln>
                <a:solidFill>
                  <a:schemeClr val="tx1"/>
                </a:solidFill>
                <a:effectLst/>
                <a:latin typeface="Arial" panose="020B0604020202020204" pitchFamily="34" charset="0"/>
              </a:rPr>
              <a:t> for heart rate</a:t>
            </a:r>
          </a:p>
          <a:p>
            <a:pPr marR="0" lvl="0" algn="l" defTabSz="914400" rtl="0" eaLnBrk="0" fontAlgn="base" latinLnBrk="0" hangingPunct="0">
              <a:lnSpc>
                <a:spcPct val="2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and the </a:t>
            </a:r>
            <a:r>
              <a:rPr kumimoji="0" lang="en-US" altLang="en-US" sz="1800" b="1" i="0" u="none" strike="noStrike" cap="none" normalizeH="0" baseline="0" dirty="0">
                <a:ln>
                  <a:noFill/>
                </a:ln>
                <a:solidFill>
                  <a:schemeClr val="tx1"/>
                </a:solidFill>
                <a:effectLst/>
                <a:latin typeface="Arial" panose="020B0604020202020204" pitchFamily="34" charset="0"/>
              </a:rPr>
              <a:t>FSR Sensor</a:t>
            </a:r>
            <a:r>
              <a:rPr kumimoji="0" lang="en-US" altLang="en-US" sz="1800" b="0" i="0" u="none" strike="noStrike" cap="none" normalizeH="0" baseline="0" dirty="0">
                <a:ln>
                  <a:noFill/>
                </a:ln>
                <a:solidFill>
                  <a:schemeClr val="tx1"/>
                </a:solidFill>
                <a:effectLst/>
                <a:latin typeface="Arial" panose="020B0604020202020204" pitchFamily="34" charset="0"/>
              </a:rPr>
              <a:t> for patient presence.</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Output:</a:t>
            </a:r>
            <a:r>
              <a:rPr kumimoji="0" lang="en-US" altLang="en-US" sz="1800" b="0" i="0" u="none" strike="noStrike" cap="none" normalizeH="0" baseline="0" dirty="0">
                <a:ln>
                  <a:noFill/>
                </a:ln>
                <a:solidFill>
                  <a:schemeClr val="tx1"/>
                </a:solidFill>
                <a:effectLst/>
                <a:latin typeface="Arial" panose="020B0604020202020204" pitchFamily="34" charset="0"/>
              </a:rPr>
              <a:t> Generates </a:t>
            </a:r>
            <a:r>
              <a:rPr kumimoji="0" lang="en-US" altLang="en-US" sz="1800" b="1" i="0" u="none" strike="noStrike" cap="none" normalizeH="0" baseline="0" dirty="0">
                <a:ln>
                  <a:noFill/>
                </a:ln>
                <a:solidFill>
                  <a:schemeClr val="tx1"/>
                </a:solidFill>
                <a:effectLst/>
                <a:latin typeface="Arial" panose="020B0604020202020204" pitchFamily="34" charset="0"/>
              </a:rPr>
              <a:t>sensed data that reflects the patient's current health status</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298867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9A63A-FC87-ADB2-FC42-A6F3BC27E7E2}"/>
            </a:ext>
          </a:extLst>
        </p:cNvPr>
        <p:cNvGrpSpPr/>
        <p:nvPr/>
      </p:nvGrpSpPr>
      <p:grpSpPr>
        <a:xfrm>
          <a:off x="0" y="0"/>
          <a:ext cx="0" cy="0"/>
          <a:chOff x="0" y="0"/>
          <a:chExt cx="0" cy="0"/>
        </a:xfrm>
      </p:grpSpPr>
      <p:pic>
        <p:nvPicPr>
          <p:cNvPr id="3" name="object 5">
            <a:extLst>
              <a:ext uri="{FF2B5EF4-FFF2-40B4-BE49-F238E27FC236}">
                <a16:creationId xmlns:a16="http://schemas.microsoft.com/office/drawing/2014/main" id="{2BBC400E-2C43-F90D-85BB-D3EB761AE788}"/>
              </a:ext>
            </a:extLst>
          </p:cNvPr>
          <p:cNvPicPr/>
          <p:nvPr/>
        </p:nvPicPr>
        <p:blipFill>
          <a:blip r:embed="rId2" cstate="print"/>
          <a:stretch>
            <a:fillRect/>
          </a:stretch>
        </p:blipFill>
        <p:spPr>
          <a:xfrm>
            <a:off x="338665" y="221764"/>
            <a:ext cx="778183" cy="692636"/>
          </a:xfrm>
          <a:prstGeom prst="rect">
            <a:avLst/>
          </a:prstGeom>
        </p:spPr>
      </p:pic>
      <p:sp>
        <p:nvSpPr>
          <p:cNvPr id="8" name="Title 7">
            <a:extLst>
              <a:ext uri="{FF2B5EF4-FFF2-40B4-BE49-F238E27FC236}">
                <a16:creationId xmlns:a16="http://schemas.microsoft.com/office/drawing/2014/main" id="{739217D8-9DC3-9C51-CF6E-E2E88CD3F800}"/>
              </a:ext>
            </a:extLst>
          </p:cNvPr>
          <p:cNvSpPr>
            <a:spLocks noGrp="1"/>
          </p:cNvSpPr>
          <p:nvPr>
            <p:ph type="title"/>
          </p:nvPr>
        </p:nvSpPr>
        <p:spPr>
          <a:xfrm>
            <a:off x="457200" y="557922"/>
            <a:ext cx="8229600" cy="1143000"/>
          </a:xfrm>
        </p:spPr>
        <p:txBody>
          <a:bodyPr>
            <a:normAutofit fontScale="90000"/>
          </a:bodyPr>
          <a:lstStyle/>
          <a:p>
            <a:r>
              <a:rPr lang="en-GB" dirty="0">
                <a:latin typeface="Times New Roman" panose="02020603050405020304" pitchFamily="18" charset="0"/>
                <a:cs typeface="Times New Roman" panose="02020603050405020304" pitchFamily="18" charset="0"/>
              </a:rPr>
              <a:t>MODULES</a:t>
            </a:r>
            <a:br>
              <a:rPr lang="en-GB" dirty="0">
                <a:latin typeface="Times New Roman" panose="02020603050405020304" pitchFamily="18" charset="0"/>
                <a:cs typeface="Times New Roman" panose="02020603050405020304" pitchFamily="18" charset="0"/>
              </a:rPr>
            </a:br>
            <a:r>
              <a:rPr lang="en-US" altLang="en-US" sz="2200" dirty="0">
                <a:latin typeface="Times New Roman" panose="02020603050405020304" pitchFamily="18" charset="0"/>
                <a:cs typeface="Times New Roman" panose="02020603050405020304" pitchFamily="18" charset="0"/>
              </a:rPr>
              <a:t>processing Module</a:t>
            </a:r>
            <a:br>
              <a:rPr lang="en-US" altLang="en-US"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45C0C6A-8F77-E470-4809-E11952E6DDAD}"/>
              </a:ext>
            </a:extLst>
          </p:cNvPr>
          <p:cNvSpPr txBox="1"/>
          <p:nvPr/>
        </p:nvSpPr>
        <p:spPr>
          <a:xfrm>
            <a:off x="1752600" y="4953000"/>
            <a:ext cx="184731" cy="369332"/>
          </a:xfrm>
          <a:prstGeom prst="rect">
            <a:avLst/>
          </a:prstGeom>
          <a:noFill/>
        </p:spPr>
        <p:txBody>
          <a:bodyPr wrap="none" rtlCol="0">
            <a:spAutoFit/>
          </a:bodyPr>
          <a:lstStyle/>
          <a:p>
            <a:endParaRPr lang="en-US" dirty="0"/>
          </a:p>
        </p:txBody>
      </p:sp>
      <p:sp>
        <p:nvSpPr>
          <p:cNvPr id="5" name="Rectangle 1">
            <a:extLst>
              <a:ext uri="{FF2B5EF4-FFF2-40B4-BE49-F238E27FC236}">
                <a16:creationId xmlns:a16="http://schemas.microsoft.com/office/drawing/2014/main" id="{044BA4F6-0D92-CF51-C79E-59C0FA566CA6}"/>
              </a:ext>
            </a:extLst>
          </p:cNvPr>
          <p:cNvSpPr>
            <a:spLocks noChangeArrowheads="1"/>
          </p:cNvSpPr>
          <p:nvPr/>
        </p:nvSpPr>
        <p:spPr bwMode="auto">
          <a:xfrm>
            <a:off x="426720" y="1535668"/>
            <a:ext cx="9296400" cy="4438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Core Component:</a:t>
            </a:r>
            <a:r>
              <a:rPr kumimoji="0" lang="en-US" altLang="en-US" sz="1800" b="0" i="0" u="none" strike="noStrike" cap="none" normalizeH="0" baseline="0" dirty="0">
                <a:ln>
                  <a:noFill/>
                </a:ln>
                <a:solidFill>
                  <a:schemeClr val="tx1"/>
                </a:solidFill>
                <a:effectLst/>
                <a:latin typeface="Arial" panose="020B0604020202020204" pitchFamily="34" charset="0"/>
              </a:rPr>
              <a:t> Uses the </a:t>
            </a:r>
            <a:r>
              <a:rPr kumimoji="0" lang="en-US" altLang="en-US" sz="1800" b="1" i="0" u="none" strike="noStrike" cap="none" normalizeH="0" baseline="0" dirty="0" err="1">
                <a:ln>
                  <a:noFill/>
                </a:ln>
                <a:solidFill>
                  <a:schemeClr val="tx1"/>
                </a:solidFill>
                <a:effectLst/>
                <a:latin typeface="Arial" panose="020B0604020202020204" pitchFamily="34" charset="0"/>
              </a:rPr>
              <a:t>NodeMCU</a:t>
            </a:r>
            <a:r>
              <a:rPr kumimoji="0" lang="en-US" altLang="en-US" sz="1800" b="1" i="0" u="none" strike="noStrike" cap="none" normalizeH="0" baseline="0" dirty="0">
                <a:ln>
                  <a:noFill/>
                </a:ln>
                <a:solidFill>
                  <a:schemeClr val="tx1"/>
                </a:solidFill>
                <a:effectLst/>
                <a:latin typeface="Arial" panose="020B0604020202020204" pitchFamily="34" charset="0"/>
              </a:rPr>
              <a:t> (ESP8266) microcontroller</a:t>
            </a:r>
            <a:r>
              <a:rPr kumimoji="0" lang="en-US" altLang="en-US" sz="1800" b="0" i="0" u="none" strike="noStrike" cap="none" normalizeH="0" baseline="0" dirty="0">
                <a:ln>
                  <a:noFill/>
                </a:ln>
                <a:solidFill>
                  <a:schemeClr val="tx1"/>
                </a:solidFill>
                <a:effectLst/>
                <a:latin typeface="Arial" panose="020B0604020202020204" pitchFamily="34" charset="0"/>
              </a:rPr>
              <a:t> to </a:t>
            </a:r>
          </a:p>
          <a:p>
            <a:pPr marR="0" lvl="0" algn="l" defTabSz="914400" rtl="0" eaLnBrk="0" fontAlgn="base" latinLnBrk="0" hangingPunct="0">
              <a:lnSpc>
                <a:spcPct val="200000"/>
              </a:lnSpc>
              <a:spcBef>
                <a:spcPct val="0"/>
              </a:spcBef>
              <a:spcAft>
                <a:spcPct val="0"/>
              </a:spcAft>
              <a:buClrTx/>
              <a:buSzTx/>
              <a:tabLst/>
            </a:pP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handle the core logic of the system.</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Handling: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Receives and processes the sensed data</a:t>
            </a:r>
            <a:r>
              <a:rPr kumimoji="0" lang="en-US" altLang="en-US" sz="1800" b="0" i="0" u="none" strike="noStrike" cap="none" normalizeH="0" baseline="0" dirty="0">
                <a:ln>
                  <a:noFill/>
                </a:ln>
                <a:solidFill>
                  <a:schemeClr val="tx1"/>
                </a:solidFill>
                <a:effectLst/>
                <a:latin typeface="Arial" panose="020B0604020202020204" pitchFamily="34" charset="0"/>
              </a:rPr>
              <a:t> from all </a:t>
            </a:r>
          </a:p>
          <a:p>
            <a:pPr marR="0" lvl="0" algn="l" defTabSz="914400" rtl="0" eaLnBrk="0" fontAlgn="base" latinLnBrk="0" hangingPunct="0">
              <a:lnSpc>
                <a:spcPct val="200000"/>
              </a:lnSpc>
              <a:spcBef>
                <a:spcPct val="0"/>
              </a:spcBef>
              <a:spcAft>
                <a:spcPct val="0"/>
              </a:spcAft>
              <a:buClrTx/>
              <a:buSzTx/>
              <a:tabLst/>
            </a:pP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connected sensors.</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Abnormal Detection: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Continuously checks if any health parameter or </a:t>
            </a:r>
          </a:p>
          <a:p>
            <a:pPr marR="0" lvl="0" algn="l" defTabSz="914400" rtl="0" eaLnBrk="0" fontAlgn="base" latinLnBrk="0" hangingPunct="0">
              <a:lnSpc>
                <a:spcPct val="200000"/>
              </a:lnSpc>
              <a:spcBef>
                <a:spcPct val="0"/>
              </a:spcBef>
              <a:spcAft>
                <a:spcPct val="0"/>
              </a:spcAft>
              <a:buClrTx/>
              <a:buSzTx/>
              <a:tabLst/>
            </a:pPr>
            <a:r>
              <a:rPr lang="en-US" altLang="en-US" b="1" dirty="0">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IV fluid level has crossed a critical threshold</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IoT Integration: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Utilizes the </a:t>
            </a:r>
            <a:r>
              <a:rPr kumimoji="0" lang="en-US" altLang="en-US" sz="1800" b="1" i="0" u="none" strike="noStrike" cap="none" normalizeH="0" baseline="0" dirty="0" err="1">
                <a:ln>
                  <a:noFill/>
                </a:ln>
                <a:solidFill>
                  <a:schemeClr val="tx1"/>
                </a:solidFill>
                <a:effectLst/>
                <a:latin typeface="Arial" panose="020B0604020202020204" pitchFamily="34" charset="0"/>
              </a:rPr>
              <a:t>NodeMCU's</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WiFi</a:t>
            </a:r>
            <a:r>
              <a:rPr kumimoji="0" lang="en-US" altLang="en-US" sz="1800" b="1" i="0" u="none" strike="noStrike" cap="none" normalizeH="0" baseline="0" dirty="0">
                <a:ln>
                  <a:noFill/>
                </a:ln>
                <a:solidFill>
                  <a:schemeClr val="tx1"/>
                </a:solidFill>
                <a:effectLst/>
                <a:latin typeface="Arial" panose="020B0604020202020204" pitchFamily="34" charset="0"/>
              </a:rPr>
              <a:t> capability to upload the </a:t>
            </a:r>
          </a:p>
          <a:p>
            <a:pPr marR="0" lvl="0" algn="l" defTabSz="914400" rtl="0" eaLnBrk="0" fontAlgn="base" latinLnBrk="0" hangingPunct="0">
              <a:lnSpc>
                <a:spcPct val="200000"/>
              </a:lnSpc>
              <a:spcBef>
                <a:spcPct val="0"/>
              </a:spcBef>
              <a:spcAft>
                <a:spcPct val="0"/>
              </a:spcAft>
              <a:buClrTx/>
              <a:buSzTx/>
              <a:tabLst/>
            </a:pPr>
            <a:r>
              <a:rPr lang="en-US" altLang="en-US" b="1" dirty="0">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processed data to the Firebase Cloud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64079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F062D-117D-FDB0-04E4-A2393BDD4B21}"/>
            </a:ext>
          </a:extLst>
        </p:cNvPr>
        <p:cNvGrpSpPr/>
        <p:nvPr/>
      </p:nvGrpSpPr>
      <p:grpSpPr>
        <a:xfrm>
          <a:off x="0" y="0"/>
          <a:ext cx="0" cy="0"/>
          <a:chOff x="0" y="0"/>
          <a:chExt cx="0" cy="0"/>
        </a:xfrm>
      </p:grpSpPr>
      <p:pic>
        <p:nvPicPr>
          <p:cNvPr id="3" name="object 5">
            <a:extLst>
              <a:ext uri="{FF2B5EF4-FFF2-40B4-BE49-F238E27FC236}">
                <a16:creationId xmlns:a16="http://schemas.microsoft.com/office/drawing/2014/main" id="{52CE5DD1-9EAE-4C53-2214-E02DC9900F0D}"/>
              </a:ext>
            </a:extLst>
          </p:cNvPr>
          <p:cNvPicPr/>
          <p:nvPr/>
        </p:nvPicPr>
        <p:blipFill>
          <a:blip r:embed="rId2" cstate="print"/>
          <a:stretch>
            <a:fillRect/>
          </a:stretch>
        </p:blipFill>
        <p:spPr>
          <a:xfrm>
            <a:off x="338665" y="221764"/>
            <a:ext cx="778183" cy="692636"/>
          </a:xfrm>
          <a:prstGeom prst="rect">
            <a:avLst/>
          </a:prstGeom>
        </p:spPr>
      </p:pic>
      <p:sp>
        <p:nvSpPr>
          <p:cNvPr id="8" name="Title 7">
            <a:extLst>
              <a:ext uri="{FF2B5EF4-FFF2-40B4-BE49-F238E27FC236}">
                <a16:creationId xmlns:a16="http://schemas.microsoft.com/office/drawing/2014/main" id="{EA4DD538-FEE8-160A-92A4-C27EECF54D98}"/>
              </a:ext>
            </a:extLst>
          </p:cNvPr>
          <p:cNvSpPr>
            <a:spLocks noGrp="1"/>
          </p:cNvSpPr>
          <p:nvPr>
            <p:ph type="title"/>
          </p:nvPr>
        </p:nvSpPr>
        <p:spPr>
          <a:xfrm>
            <a:off x="555415" y="568082"/>
            <a:ext cx="8229600" cy="1143000"/>
          </a:xfrm>
        </p:spPr>
        <p:txBody>
          <a:bodyPr>
            <a:normAutofit fontScale="90000"/>
          </a:bodyPr>
          <a:lstStyle/>
          <a:p>
            <a:r>
              <a:rPr lang="en-GB" dirty="0">
                <a:latin typeface="Times New Roman" panose="02020603050405020304" pitchFamily="18" charset="0"/>
                <a:cs typeface="Times New Roman" panose="02020603050405020304" pitchFamily="18" charset="0"/>
              </a:rPr>
              <a:t>MODULES</a:t>
            </a:r>
            <a:br>
              <a:rPr lang="en-GB" dirty="0">
                <a:latin typeface="Times New Roman" panose="02020603050405020304" pitchFamily="18" charset="0"/>
                <a:cs typeface="Times New Roman" panose="02020603050405020304" pitchFamily="18" charset="0"/>
              </a:rPr>
            </a:br>
            <a:r>
              <a:rPr lang="en-US" altLang="en-US" sz="2200" dirty="0">
                <a:latin typeface="Times New Roman" panose="02020603050405020304" pitchFamily="18" charset="0"/>
                <a:cs typeface="Times New Roman" panose="02020603050405020304" pitchFamily="18" charset="0"/>
              </a:rPr>
              <a:t>communication Module &amp; alert Module</a:t>
            </a:r>
            <a:br>
              <a:rPr lang="en-GB"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CBF31ED-2558-B44B-C008-F580BBCD8ECB}"/>
              </a:ext>
            </a:extLst>
          </p:cNvPr>
          <p:cNvSpPr txBox="1"/>
          <p:nvPr/>
        </p:nvSpPr>
        <p:spPr>
          <a:xfrm>
            <a:off x="1752600" y="4953000"/>
            <a:ext cx="184731" cy="369332"/>
          </a:xfrm>
          <a:prstGeom prst="rect">
            <a:avLst/>
          </a:prstGeom>
          <a:noFill/>
        </p:spPr>
        <p:txBody>
          <a:bodyPr wrap="none" rtlCol="0">
            <a:spAutoFit/>
          </a:bodyPr>
          <a:lstStyle/>
          <a:p>
            <a:endParaRPr lang="en-US" dirty="0"/>
          </a:p>
        </p:txBody>
      </p:sp>
      <p:sp>
        <p:nvSpPr>
          <p:cNvPr id="2" name="Rectangle 1">
            <a:extLst>
              <a:ext uri="{FF2B5EF4-FFF2-40B4-BE49-F238E27FC236}">
                <a16:creationId xmlns:a16="http://schemas.microsoft.com/office/drawing/2014/main" id="{89326E26-A987-6152-B8A9-AF2BBCE0695F}"/>
              </a:ext>
            </a:extLst>
          </p:cNvPr>
          <p:cNvSpPr>
            <a:spLocks noChangeArrowheads="1"/>
          </p:cNvSpPr>
          <p:nvPr/>
        </p:nvSpPr>
        <p:spPr bwMode="auto">
          <a:xfrm>
            <a:off x="457200" y="1420623"/>
            <a:ext cx="8229599" cy="4438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Remote Access: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Transmits data to a web or mobile application</a:t>
            </a:r>
            <a:r>
              <a:rPr kumimoji="0" lang="en-US" altLang="en-US" sz="1800" b="0" i="0" u="none" strike="noStrike" cap="none" normalizeH="0" baseline="0" dirty="0">
                <a:ln>
                  <a:noFill/>
                </a:ln>
                <a:solidFill>
                  <a:schemeClr val="tx1"/>
                </a:solidFill>
                <a:effectLst/>
                <a:latin typeface="Arial" panose="020B0604020202020204" pitchFamily="34" charset="0"/>
              </a:rPr>
              <a:t> for access by doctors and nurses anytime, anywhere.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Instant Alerts: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Generates a notification if an abnormal condition is detected</a:t>
            </a:r>
            <a:r>
              <a:rPr kumimoji="0" lang="en-US" altLang="en-US" sz="1800" b="0" i="0" u="none" strike="noStrike" cap="none" normalizeH="0" baseline="0" dirty="0">
                <a:ln>
                  <a:noFill/>
                </a:ln>
                <a:solidFill>
                  <a:schemeClr val="tx1"/>
                </a:solidFill>
                <a:effectLst/>
                <a:latin typeface="Arial" panose="020B0604020202020204" pitchFamily="34" charset="0"/>
              </a:rPr>
              <a:t>, ensuring immediate medical response.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Alert Methods:</a:t>
            </a:r>
            <a:r>
              <a:rPr kumimoji="0" lang="en-US" altLang="en-US" sz="1800" b="0" i="0" u="none" strike="noStrike" cap="none" normalizeH="0" baseline="0" dirty="0">
                <a:ln>
                  <a:noFill/>
                </a:ln>
                <a:solidFill>
                  <a:schemeClr val="tx1"/>
                </a:solidFill>
                <a:effectLst/>
                <a:latin typeface="Arial" panose="020B0604020202020204" pitchFamily="34" charset="0"/>
              </a:rPr>
              <a:t> Alerts are sent via multiple channels, including </a:t>
            </a:r>
            <a:r>
              <a:rPr kumimoji="0" lang="en-US" altLang="en-US" sz="1800" b="1" i="0" u="none" strike="noStrike" cap="none" normalizeH="0" baseline="0" dirty="0">
                <a:ln>
                  <a:noFill/>
                </a:ln>
                <a:solidFill>
                  <a:schemeClr val="tx1"/>
                </a:solidFill>
                <a:effectLst/>
                <a:latin typeface="Arial" panose="020B0604020202020204" pitchFamily="34" charset="0"/>
              </a:rPr>
              <a:t>voice notifications, SMS (GSM SIM800L Module), and mobile app updates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Enhances patient safety and reduces dependency on manual supervision</a:t>
            </a:r>
            <a:r>
              <a:rPr kumimoji="0" lang="en-US" altLang="en-US" sz="1800" b="0" i="0" u="none" strike="noStrike" cap="none" normalizeH="0" baseline="0" dirty="0">
                <a:ln>
                  <a:noFill/>
                </a:ln>
                <a:solidFill>
                  <a:schemeClr val="tx1"/>
                </a:solidFill>
                <a:effectLst/>
                <a:latin typeface="Arial" panose="020B0604020202020204" pitchFamily="34" charset="0"/>
              </a:rPr>
              <a:t> through continuous, automated monitoring.</a:t>
            </a:r>
          </a:p>
        </p:txBody>
      </p:sp>
    </p:spTree>
    <p:extLst>
      <p:ext uri="{BB962C8B-B14F-4D97-AF65-F5344CB8AC3E}">
        <p14:creationId xmlns:p14="http://schemas.microsoft.com/office/powerpoint/2010/main" val="1050707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29E5-7489-9407-0559-080F7DA264CA}"/>
            </a:ext>
          </a:extLst>
        </p:cNvPr>
        <p:cNvGrpSpPr/>
        <p:nvPr/>
      </p:nvGrpSpPr>
      <p:grpSpPr>
        <a:xfrm>
          <a:off x="0" y="0"/>
          <a:ext cx="0" cy="0"/>
          <a:chOff x="0" y="0"/>
          <a:chExt cx="0" cy="0"/>
        </a:xfrm>
      </p:grpSpPr>
      <p:pic>
        <p:nvPicPr>
          <p:cNvPr id="3" name="object 5">
            <a:extLst>
              <a:ext uri="{FF2B5EF4-FFF2-40B4-BE49-F238E27FC236}">
                <a16:creationId xmlns:a16="http://schemas.microsoft.com/office/drawing/2014/main" id="{27D326BE-3689-D21F-E4B0-966A52BF2B13}"/>
              </a:ext>
            </a:extLst>
          </p:cNvPr>
          <p:cNvPicPr/>
          <p:nvPr/>
        </p:nvPicPr>
        <p:blipFill>
          <a:blip r:embed="rId2" cstate="print"/>
          <a:stretch>
            <a:fillRect/>
          </a:stretch>
        </p:blipFill>
        <p:spPr>
          <a:xfrm>
            <a:off x="338665" y="221764"/>
            <a:ext cx="778183" cy="692636"/>
          </a:xfrm>
          <a:prstGeom prst="rect">
            <a:avLst/>
          </a:prstGeom>
        </p:spPr>
      </p:pic>
      <p:sp>
        <p:nvSpPr>
          <p:cNvPr id="8" name="Title 7">
            <a:extLst>
              <a:ext uri="{FF2B5EF4-FFF2-40B4-BE49-F238E27FC236}">
                <a16:creationId xmlns:a16="http://schemas.microsoft.com/office/drawing/2014/main" id="{D67F1E8C-2DD2-A9B9-270B-DB2910515FBB}"/>
              </a:ext>
            </a:extLst>
          </p:cNvPr>
          <p:cNvSpPr>
            <a:spLocks noGrp="1"/>
          </p:cNvSpPr>
          <p:nvPr>
            <p:ph type="title"/>
          </p:nvPr>
        </p:nvSpPr>
        <p:spPr>
          <a:xfrm>
            <a:off x="575735" y="580523"/>
            <a:ext cx="8229600" cy="1143000"/>
          </a:xfrm>
        </p:spPr>
        <p:txBody>
          <a:bodyPr/>
          <a:lstStyle/>
          <a:p>
            <a:r>
              <a:rPr lang="en-GB" dirty="0">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CE7E34E7-A8BD-4116-7F5F-EE3563E74CF0}"/>
              </a:ext>
            </a:extLst>
          </p:cNvPr>
          <p:cNvSpPr txBox="1"/>
          <p:nvPr/>
        </p:nvSpPr>
        <p:spPr>
          <a:xfrm>
            <a:off x="706778" y="2133600"/>
            <a:ext cx="7730444" cy="212686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provides continuous, reliable, and real-time monitoring of patients.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also monitors IV fluid level automatically.</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gives alerts when patient health or IV level becomes critical.</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Improves patient safety and reduces manual errors.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Useful in hospitals, home healthcare, and elderly care.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7977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6E50096B-93A1-502E-3A37-471F7B727850}"/>
              </a:ext>
            </a:extLst>
          </p:cNvPr>
          <p:cNvSpPr>
            <a:spLocks noChangeArrowheads="1"/>
          </p:cNvSpPr>
          <p:nvPr/>
        </p:nvSpPr>
        <p:spPr bwMode="auto">
          <a:xfrm rot="10800000" flipV="1">
            <a:off x="914400" y="1600200"/>
            <a:ext cx="7821038"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&amp; Predictive Analytics</a:t>
            </a:r>
            <a:r>
              <a:rPr kumimoji="0" lang="en-US" altLang="en-US" sz="1800" b="0" i="0" u="none" strike="noStrike" cap="none" normalizeH="0" baseline="0" dirty="0">
                <a:ln>
                  <a:noFill/>
                </a:ln>
                <a:solidFill>
                  <a:schemeClr val="tx1"/>
                </a:solidFill>
                <a:effectLst/>
                <a:latin typeface="Arial" panose="020B0604020202020204" pitchFamily="34" charset="0"/>
              </a:rPr>
              <a:t> – Detect health risks early and assist doctors with smart decision-making.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Centralized &amp; Remote Monitoring</a:t>
            </a:r>
            <a:r>
              <a:rPr kumimoji="0" lang="en-US" altLang="en-US" sz="1800" b="0" i="0" u="none" strike="noStrike" cap="none" normalizeH="0" baseline="0" dirty="0">
                <a:ln>
                  <a:noFill/>
                </a:ln>
                <a:solidFill>
                  <a:schemeClr val="tx1"/>
                </a:solidFill>
                <a:effectLst/>
                <a:latin typeface="Arial" panose="020B0604020202020204" pitchFamily="34" charset="0"/>
              </a:rPr>
              <a:t> – Manage multiple patients through a unified dashboard and wearable devices.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EHR/HIS Integration</a:t>
            </a:r>
            <a:r>
              <a:rPr kumimoji="0" lang="en-US" altLang="en-US" sz="1800" b="0" i="0" u="none" strike="noStrike" cap="none" normalizeH="0" baseline="0" dirty="0">
                <a:ln>
                  <a:noFill/>
                </a:ln>
                <a:solidFill>
                  <a:schemeClr val="tx1"/>
                </a:solidFill>
                <a:effectLst/>
                <a:latin typeface="Arial" panose="020B0604020202020204" pitchFamily="34" charset="0"/>
              </a:rPr>
              <a:t> – Automatically update patient records for accurate and efficient data handling.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Voice, Power &amp; Telemedicine Features</a:t>
            </a:r>
            <a:r>
              <a:rPr kumimoji="0" lang="en-US" altLang="en-US" sz="1800" b="0" i="0" u="none" strike="noStrike" cap="none" normalizeH="0" baseline="0" dirty="0">
                <a:ln>
                  <a:noFill/>
                </a:ln>
                <a:solidFill>
                  <a:schemeClr val="tx1"/>
                </a:solidFill>
                <a:effectLst/>
                <a:latin typeface="Arial" panose="020B0604020202020204" pitchFamily="34" charset="0"/>
              </a:rPr>
              <a:t> – Enable hands-free control, energy efficiency, and virtual doctor consultations.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Security &amp; Accessibility</a:t>
            </a:r>
            <a:r>
              <a:rPr kumimoji="0" lang="en-US" altLang="en-US" sz="1800" b="0" i="0" u="none" strike="noStrike" cap="none" normalizeH="0" baseline="0" dirty="0">
                <a:ln>
                  <a:noFill/>
                </a:ln>
                <a:solidFill>
                  <a:schemeClr val="tx1"/>
                </a:solidFill>
                <a:effectLst/>
                <a:latin typeface="Arial" panose="020B0604020202020204" pitchFamily="34" charset="0"/>
              </a:rPr>
              <a:t> – Use blockchain for data protection and support multiple languages for global use.</a:t>
            </a:r>
          </a:p>
        </p:txBody>
      </p:sp>
      <p:sp>
        <p:nvSpPr>
          <p:cNvPr id="4" name="TextBox 3">
            <a:extLst>
              <a:ext uri="{FF2B5EF4-FFF2-40B4-BE49-F238E27FC236}">
                <a16:creationId xmlns:a16="http://schemas.microsoft.com/office/drawing/2014/main" id="{837C7AC0-D6DD-3279-3A91-966E4CED6339}"/>
              </a:ext>
            </a:extLst>
          </p:cNvPr>
          <p:cNvSpPr txBox="1"/>
          <p:nvPr/>
        </p:nvSpPr>
        <p:spPr>
          <a:xfrm>
            <a:off x="2793337" y="830946"/>
            <a:ext cx="4063164"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FUTURE ENHANCEMENT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6353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6C71B-E9E1-433D-9038-DE34C91AA6EF}"/>
            </a:ext>
          </a:extLst>
        </p:cNvPr>
        <p:cNvGrpSpPr/>
        <p:nvPr/>
      </p:nvGrpSpPr>
      <p:grpSpPr>
        <a:xfrm>
          <a:off x="0" y="0"/>
          <a:ext cx="0" cy="0"/>
          <a:chOff x="0" y="0"/>
          <a:chExt cx="0" cy="0"/>
        </a:xfrm>
      </p:grpSpPr>
      <p:pic>
        <p:nvPicPr>
          <p:cNvPr id="3" name="object 5">
            <a:extLst>
              <a:ext uri="{FF2B5EF4-FFF2-40B4-BE49-F238E27FC236}">
                <a16:creationId xmlns:a16="http://schemas.microsoft.com/office/drawing/2014/main" id="{D7CA0F5B-C868-5DEF-5C18-765769B2114A}"/>
              </a:ext>
            </a:extLst>
          </p:cNvPr>
          <p:cNvPicPr/>
          <p:nvPr/>
        </p:nvPicPr>
        <p:blipFill>
          <a:blip r:embed="rId2" cstate="print"/>
          <a:stretch>
            <a:fillRect/>
          </a:stretch>
        </p:blipFill>
        <p:spPr>
          <a:xfrm>
            <a:off x="338665" y="221764"/>
            <a:ext cx="778183" cy="692636"/>
          </a:xfrm>
          <a:prstGeom prst="rect">
            <a:avLst/>
          </a:prstGeom>
        </p:spPr>
      </p:pic>
      <p:sp>
        <p:nvSpPr>
          <p:cNvPr id="8" name="Title 7">
            <a:extLst>
              <a:ext uri="{FF2B5EF4-FFF2-40B4-BE49-F238E27FC236}">
                <a16:creationId xmlns:a16="http://schemas.microsoft.com/office/drawing/2014/main" id="{E53FD81C-6EDA-D98F-B80F-7382643BE2F4}"/>
              </a:ext>
            </a:extLst>
          </p:cNvPr>
          <p:cNvSpPr>
            <a:spLocks noGrp="1"/>
          </p:cNvSpPr>
          <p:nvPr>
            <p:ph type="title"/>
          </p:nvPr>
        </p:nvSpPr>
        <p:spPr>
          <a:xfrm>
            <a:off x="533400" y="2438400"/>
            <a:ext cx="8229600" cy="1143000"/>
          </a:xfrm>
        </p:spPr>
        <p:txBody>
          <a:bodyPr/>
          <a:lstStyle/>
          <a:p>
            <a:r>
              <a:rPr lang="en-GB"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826054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1145</TotalTime>
  <Words>1527</Words>
  <Application>Microsoft Office PowerPoint</Application>
  <PresentationFormat>On-screen Show (4:3)</PresentationFormat>
  <Paragraphs>174</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Wingdings</vt:lpstr>
      <vt:lpstr>Office Theme</vt:lpstr>
      <vt:lpstr>PowerPoint Presentation</vt:lpstr>
      <vt:lpstr>Smart Bed Using Health Care Monitoring System </vt:lpstr>
      <vt:lpstr>ABSTRACT</vt:lpstr>
      <vt:lpstr>PowerPoint Presentation</vt:lpstr>
      <vt:lpstr>LITERATURE SURVEY</vt:lpstr>
      <vt:lpstr>LITERATURE SURVEY</vt:lpstr>
      <vt:lpstr>EXISTING SYSTEM</vt:lpstr>
      <vt:lpstr>DISADVANTAGES</vt:lpstr>
      <vt:lpstr>       PROPOSED SYSTEM</vt:lpstr>
      <vt:lpstr>ADVANTAGES</vt:lpstr>
      <vt:lpstr>HARDWARE REQUIREMENTS</vt:lpstr>
      <vt:lpstr>SOFTWARE REQUIREMENTS</vt:lpstr>
      <vt:lpstr>PowerPoint Presentation</vt:lpstr>
      <vt:lpstr>PowerPoint Presentation</vt:lpstr>
      <vt:lpstr>PowerPoint Presentation</vt:lpstr>
      <vt:lpstr>MODULES</vt:lpstr>
      <vt:lpstr>MODULES Sensing Module </vt:lpstr>
      <vt:lpstr>MODULES processing Module </vt:lpstr>
      <vt:lpstr>MODULES communication Module &amp; alert Module </vt:lpstr>
      <vt:lpstr>CONCLUSION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Mukesh B</cp:lastModifiedBy>
  <cp:revision>213</cp:revision>
  <dcterms:created xsi:type="dcterms:W3CDTF">2006-08-16T00:00:00Z</dcterms:created>
  <dcterms:modified xsi:type="dcterms:W3CDTF">2025-11-03T04:42:15Z</dcterms:modified>
</cp:coreProperties>
</file>